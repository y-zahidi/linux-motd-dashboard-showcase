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EA6"/>
    <a:srgbClr val="F59E0B"/>
    <a:srgbClr val="00E5A0"/>
    <a:srgbClr val="00B8D4"/>
    <a:srgbClr val="00BA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8" autoAdjust="0"/>
    <p:restoredTop sz="73072" autoAdjust="0"/>
  </p:normalViewPr>
  <p:slideViewPr>
    <p:cSldViewPr snapToGrid="0" snapToObjects="1">
      <p:cViewPr varScale="1">
        <p:scale>
          <a:sx n="79" d="100"/>
          <a:sy n="79" d="100"/>
        </p:scale>
        <p:origin x="1670" y="72"/>
      </p:cViewPr>
      <p:guideLst/>
    </p:cSldViewPr>
  </p:slideViewPr>
  <p:notesTextViewPr>
    <p:cViewPr>
      <p:scale>
        <a:sx n="1" d="1"/>
        <a:sy n="1" d="1"/>
      </p:scale>
      <p:origin x="0" y="-19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69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Bonjour. Aujourd’hui nous allons présenter notre projet appelé </a:t>
            </a:r>
            <a:r>
              <a:rPr lang="fr-FR" b="1" dirty="0"/>
              <a:t>Générateur Dynamique de MOTD via API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Le but est de rendre le terminal Linux plus interactif grâce à des citations affichées automatiquement.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Notre objectif principal est de créer un script Bash qui récupère des citations depuis des APIs publiques puis les affiche dans le MOTD Linux.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fr-FR" dirty="0"/>
            </a:br>
            <a:r>
              <a:rPr lang="fr-FR" dirty="0"/>
              <a:t>Nous avons aussi créé un </a:t>
            </a:r>
            <a:r>
              <a:rPr lang="fr-FR" dirty="0" err="1"/>
              <a:t>dashboard</a:t>
            </a:r>
            <a:r>
              <a:rPr lang="fr-FR" dirty="0"/>
              <a:t> web pour afficher l’historique des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projet est organisé en plusieurs dossiers et scripts.</a:t>
            </a:r>
          </a:p>
          <a:p>
            <a:br>
              <a:rPr lang="fr-FR" dirty="0"/>
            </a:br>
            <a:r>
              <a:rPr lang="fr-FR" dirty="0"/>
              <a:t>Chaque script possède un rôle précis comme : </a:t>
            </a:r>
          </a:p>
          <a:p>
            <a:r>
              <a:rPr lang="fr-FR" dirty="0"/>
              <a:t>&gt;la configuration, &gt; la récupération des données ou &gt; la génération du </a:t>
            </a:r>
            <a:r>
              <a:rPr lang="fr-FR" dirty="0" err="1"/>
              <a:t>dashboard</a:t>
            </a:r>
            <a:r>
              <a:rPr lang="fr-FR" dirty="0"/>
              <a:t>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alimenter notre système en citations, nous avons sélectionné 5 APIs publiques, toutes gratuites et sans clé d'authentification requise.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&gt;Les données sont retournées au format JSON et directement exploitables avec l'outil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jq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&gt;Voici les 5 sources disponibles :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ZenQuotes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pour des citations inspirantes et motivantes.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Chuck Norris API, pour des blagues humoristiques. </a:t>
            </a:r>
          </a:p>
          <a:p>
            <a:pPr marL="171450" indent="-171450">
              <a:buFontTx/>
              <a:buChar char="-"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Advice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Slip, pour des conseils pratiques. </a:t>
            </a:r>
          </a:p>
          <a:p>
            <a:pPr marL="171450" indent="-171450">
              <a:buFontTx/>
              <a:buChar char="-"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Geek Jokes, orientée développeurs. </a:t>
            </a:r>
          </a:p>
          <a:p>
            <a:pPr marL="171450" indent="-171450">
              <a:buFontTx/>
              <a:buChar char="-"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Et enfin Kanye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pour des citations pop culture.</a:t>
            </a:r>
          </a:p>
          <a:p>
            <a:pPr marL="171450" indent="-171450">
              <a:buFontTx/>
              <a:buChar char="-"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L'utilisateur peut choisir sa source préférée via le menu CRUD que nous verrons à la partie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script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manage_config.sh</a:t>
            </a:r>
            <a:r>
              <a:rPr lang="fr-FR" dirty="0"/>
              <a:t> permet de gérer les APIs du projet.</a:t>
            </a:r>
          </a:p>
          <a:p>
            <a:br>
              <a:rPr lang="fr-FR" dirty="0"/>
            </a:br>
            <a:r>
              <a:rPr lang="fr-FR" dirty="0"/>
              <a:t>On peut ajouter, modifier, afficher ou supprimer une source API </a:t>
            </a:r>
          </a:p>
          <a:p>
            <a:r>
              <a:rPr lang="fr-FR" dirty="0"/>
              <a:t>grâce aux opérations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script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fetch_quote.sh</a:t>
            </a:r>
            <a:r>
              <a:rPr lang="fr-FR" dirty="0"/>
              <a:t> envoie une requête API avec </a:t>
            </a:r>
            <a:r>
              <a:rPr lang="fr-FR" dirty="0" err="1"/>
              <a:t>curl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/>
              <a:t>puis utilise </a:t>
            </a:r>
            <a:r>
              <a:rPr lang="fr-FR" dirty="0" err="1"/>
              <a:t>jq</a:t>
            </a:r>
            <a:r>
              <a:rPr lang="fr-FR" dirty="0"/>
              <a:t> pour extraire uniquement la citation et l’auteur.</a:t>
            </a:r>
          </a:p>
          <a:p>
            <a:br>
              <a:rPr lang="fr-FR" dirty="0"/>
            </a:br>
            <a:r>
              <a:rPr lang="fr-FR" dirty="0"/>
              <a:t>Ensuite la citation est sauvegardée dans un fichier JSON pour garder un historique.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partie permet d’afficher automatiquement la citation dans le terminal Linux.</a:t>
            </a:r>
          </a:p>
          <a:p>
            <a:br>
              <a:rPr lang="fr-FR" dirty="0"/>
            </a:br>
            <a:r>
              <a:rPr lang="fr-FR" dirty="0"/>
              <a:t>&gt;Le script prend la citation, ajoute un style ASCII avec </a:t>
            </a:r>
            <a:r>
              <a:rPr lang="fr-FR" dirty="0" err="1"/>
              <a:t>cowsay</a:t>
            </a:r>
            <a:r>
              <a:rPr lang="fr-FR" dirty="0"/>
              <a:t>, </a:t>
            </a:r>
          </a:p>
          <a:p>
            <a:r>
              <a:rPr lang="fr-FR" dirty="0"/>
              <a:t>puis met à jour le fichier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motd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Si l’utilisateur est root, </a:t>
            </a:r>
          </a:p>
          <a:p>
            <a:endParaRPr lang="fr-FR" dirty="0"/>
          </a:p>
          <a:p>
            <a:r>
              <a:rPr lang="fr-FR" dirty="0"/>
              <a:t>Sinon, la citation s’affiche seulement dans le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partie génère une page web HTML.</a:t>
            </a:r>
          </a:p>
          <a:p>
            <a:br>
              <a:rPr lang="fr-FR" dirty="0"/>
            </a:br>
            <a:r>
              <a:rPr lang="fr-FR" dirty="0"/>
              <a:t>Toutes les citations enregistrées sont affichées sous forme de cartes avec + la date et + l’auteur.</a:t>
            </a:r>
          </a:p>
          <a:p>
            <a:br>
              <a:rPr lang="fr-FR" dirty="0"/>
            </a:br>
            <a:r>
              <a:rPr lang="fr-FR" dirty="0"/>
              <a:t>Le but est d’avoir un historique visuel simple et moderne.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script est le menu principal du projet.</a:t>
            </a:r>
          </a:p>
          <a:p>
            <a:br>
              <a:rPr lang="fr-FR" dirty="0"/>
            </a:br>
            <a:r>
              <a:rPr lang="fr-FR" dirty="0"/>
              <a:t>Il regroupe toutes les fonctionnalités dans une seule interface interactive.</a:t>
            </a:r>
          </a:p>
          <a:p>
            <a:br>
              <a:rPr lang="fr-FR" dirty="0"/>
            </a:br>
            <a:r>
              <a:rPr lang="fr-FR" dirty="0"/>
              <a:t>Chaque option du menu appelle automatiquement le bon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slide illustre le flux complet de notre système de bout en bout.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commence par manage_config.sh, qui définit quelle API utiliser.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Ensuite, fetch_quote.sh interroge l'API avec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curl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parse la réponse avec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jq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citation est stockée dans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quotes_history.json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là, deux chemins parallèles : update_motd.sh formate la citation en ASCII et l'injecte dans /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motd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tandis que generate_dashboard.sh lit l'historique JSON pour générer le fichier HTML du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Au-dessus de tout cela, motd_manager.sh joue le rôle d'orchestrateur central qui pilote l'ensemble de ces scripts via son menu interactif. </a:t>
            </a:r>
          </a:p>
          <a:p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flux montre bien la cohérence de l'architecture modulaire que nous avons mise en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+Nous avons rencontré plusieurs problèmes : comme </a:t>
            </a:r>
          </a:p>
          <a:p>
            <a:r>
              <a:rPr lang="fr-FR" dirty="0"/>
              <a:t>+les différents formats JSON des APIs,</a:t>
            </a:r>
          </a:p>
          <a:p>
            <a:r>
              <a:rPr lang="fr-FR" dirty="0"/>
              <a:t>+les permissions root et les erreurs réseau.</a:t>
            </a:r>
          </a:p>
          <a:p>
            <a:br>
              <a:rPr lang="fr-FR" dirty="0"/>
            </a:br>
            <a:r>
              <a:rPr lang="fr-FR" dirty="0">
                <a:sym typeface="Wingdings" panose="05000000000000000000" pitchFamily="2" charset="2"/>
              </a:rPr>
              <a:t></a:t>
            </a:r>
            <a:r>
              <a:rPr lang="fr-FR" dirty="0"/>
              <a:t>Pour résoudre cela, nous avons utilisé </a:t>
            </a:r>
            <a:r>
              <a:rPr lang="fr-FR" dirty="0" err="1"/>
              <a:t>jq</a:t>
            </a:r>
            <a:r>
              <a:rPr lang="fr-FR" dirty="0"/>
              <a:t>, des vérifications utilisateur et des systèmes de </a:t>
            </a:r>
            <a:r>
              <a:rPr lang="fr-FR" dirty="0" err="1"/>
              <a:t>fallback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projet nous a permis de pratiquer le </a:t>
            </a:r>
            <a:r>
              <a:rPr lang="fr-FR" dirty="0" err="1"/>
              <a:t>scripting</a:t>
            </a:r>
            <a:r>
              <a:rPr lang="fr-FR" dirty="0"/>
              <a:t> Bash, </a:t>
            </a:r>
          </a:p>
          <a:p>
            <a:r>
              <a:rPr lang="fr-FR" dirty="0"/>
              <a:t>les APIs, </a:t>
            </a:r>
            <a:r>
              <a:rPr lang="fr-FR" dirty="0" err="1"/>
              <a:t>jq</a:t>
            </a:r>
            <a:r>
              <a:rPr lang="fr-FR" dirty="0"/>
              <a:t>, </a:t>
            </a:r>
            <a:r>
              <a:rPr lang="fr-FR" dirty="0" err="1"/>
              <a:t>curl</a:t>
            </a:r>
            <a:r>
              <a:rPr lang="fr-FR" dirty="0"/>
              <a:t> et la génération HTML dynamique.</a:t>
            </a:r>
          </a:p>
          <a:p>
            <a:br>
              <a:rPr lang="fr-FR" dirty="0"/>
            </a:br>
            <a:r>
              <a:rPr lang="fr-FR" dirty="0"/>
              <a:t>Il combine une partie terminal Linux et une interface web simple.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fr-FR" dirty="0"/>
            </a:br>
            <a:r>
              <a:rPr lang="fr-FR" dirty="0"/>
              <a:t>Merci pour votre attention. </a:t>
            </a:r>
            <a:br>
              <a:rPr lang="fr-FR" dirty="0"/>
            </a:br>
            <a:br>
              <a:rPr lang="fr-FR" dirty="0"/>
            </a:br>
            <a:r>
              <a:rPr lang="fr-FR"/>
              <a:t>Passons maintenant à la partie pratique.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832104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1664208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2496312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3328416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160520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4992624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5824728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6656832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7488936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2926080" y="731520"/>
            <a:ext cx="3291840" cy="347472"/>
          </a:xfrm>
          <a:prstGeom prst="rect">
            <a:avLst/>
          </a:prstGeom>
          <a:solidFill>
            <a:srgbClr val="000000">
              <a:alpha val="25000"/>
            </a:srgbClr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795528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607308" y="804672"/>
            <a:ext cx="20894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10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 16 — SCRIPTING LINUX</a:t>
            </a:r>
            <a:endParaRPr lang="fr-FR" sz="900" noProof="0" dirty="0"/>
          </a:p>
        </p:txBody>
      </p:sp>
      <p:sp>
        <p:nvSpPr>
          <p:cNvPr id="20" name="Text 17"/>
          <p:cNvSpPr/>
          <p:nvPr/>
        </p:nvSpPr>
        <p:spPr>
          <a:xfrm>
            <a:off x="1097280" y="12801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Dynamique de</a:t>
            </a:r>
            <a:endParaRPr lang="fr-FR" sz="3600" noProof="0" dirty="0"/>
          </a:p>
        </p:txBody>
      </p:sp>
      <p:sp>
        <p:nvSpPr>
          <p:cNvPr id="21" name="Text 18"/>
          <p:cNvSpPr/>
          <p:nvPr/>
        </p:nvSpPr>
        <p:spPr>
          <a:xfrm>
            <a:off x="1097280" y="1938528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MOTD via API</a:t>
            </a:r>
            <a:endParaRPr lang="fr-FR" sz="4400" noProof="0" dirty="0"/>
          </a:p>
        </p:txBody>
      </p:sp>
      <p:sp>
        <p:nvSpPr>
          <p:cNvPr id="22" name="Shape 19"/>
          <p:cNvSpPr/>
          <p:nvPr/>
        </p:nvSpPr>
        <p:spPr>
          <a:xfrm>
            <a:off x="4114800" y="2880360"/>
            <a:ext cx="914400" cy="36576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0"/>
          <p:cNvSpPr/>
          <p:nvPr/>
        </p:nvSpPr>
        <p:spPr>
          <a:xfrm>
            <a:off x="13716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of the Day — Citations inspirantes dans votre terminal</a:t>
            </a:r>
            <a:endParaRPr lang="fr-FR" sz="1300" noProof="0" dirty="0"/>
          </a:p>
        </p:txBody>
      </p:sp>
      <p:sp>
        <p:nvSpPr>
          <p:cNvPr id="25" name="Shape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1600" y="3840480"/>
            <a:ext cx="29260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3"/>
          <p:cNvSpPr/>
          <p:nvPr/>
        </p:nvSpPr>
        <p:spPr>
          <a:xfrm>
            <a:off x="4846320" y="3840480"/>
            <a:ext cx="29260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4"/>
          <p:cNvSpPr/>
          <p:nvPr/>
        </p:nvSpPr>
        <p:spPr>
          <a:xfrm>
            <a:off x="1458468" y="40919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SORE </a:t>
            </a:r>
            <a:r>
              <a:rPr lang="fr-FR" sz="14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Naimatou</a:t>
            </a:r>
            <a:endParaRPr lang="fr-FR" sz="1400" noProof="0" dirty="0"/>
          </a:p>
        </p:txBody>
      </p:sp>
      <p:sp>
        <p:nvSpPr>
          <p:cNvPr id="28" name="Text 25"/>
          <p:cNvSpPr/>
          <p:nvPr/>
        </p:nvSpPr>
        <p:spPr>
          <a:xfrm>
            <a:off x="3108960" y="3455101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ISMAGI 2025/2026</a:t>
            </a:r>
            <a:endParaRPr lang="fr-FR" sz="1000" noProof="0" dirty="0"/>
          </a:p>
        </p:txBody>
      </p:sp>
      <p:sp>
        <p:nvSpPr>
          <p:cNvPr id="29" name="Text 26"/>
          <p:cNvSpPr/>
          <p:nvPr/>
        </p:nvSpPr>
        <p:spPr>
          <a:xfrm>
            <a:off x="4759452" y="40919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ZAHIDI Yassir</a:t>
            </a:r>
            <a:endParaRPr lang="fr-FR" sz="1400" noProof="0" dirty="0"/>
          </a:p>
        </p:txBody>
      </p:sp>
      <p:sp>
        <p:nvSpPr>
          <p:cNvPr id="31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9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0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34" name="Text 31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</a:t>
            </a:r>
            <a:endParaRPr lang="fr-FR" sz="8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CONTEXTE &amp; OBJECTIFS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le terminal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3169914" y="34747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vivant</a:t>
            </a:r>
            <a:endParaRPr lang="fr-FR" sz="26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45720" cy="82296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502920" y="1005840"/>
            <a:ext cx="8183880" cy="822960"/>
          </a:xfrm>
          <a:prstGeom prst="rect">
            <a:avLst/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777240" y="1051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"Chaque connexion SSH mérite un mot d'accueil inspirant."</a:t>
            </a:r>
            <a:endParaRPr lang="fr-FR" sz="1500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4206240" cy="28346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0312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2103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principal</a:t>
            </a:r>
            <a:endParaRPr lang="fr-FR" sz="1300" noProof="0" dirty="0"/>
          </a:p>
        </p:txBody>
      </p:sp>
      <p:sp>
        <p:nvSpPr>
          <p:cNvPr id="16" name="Shape 13"/>
          <p:cNvSpPr/>
          <p:nvPr/>
        </p:nvSpPr>
        <p:spPr>
          <a:xfrm>
            <a:off x="594360" y="2468880"/>
            <a:ext cx="393192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4"/>
          <p:cNvSpPr/>
          <p:nvPr/>
        </p:nvSpPr>
        <p:spPr>
          <a:xfrm>
            <a:off x="594360" y="257860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script Bash qui récupère dynamiquement une citation depuis une API publique, l'injecte dans le MOTD Linux, et propose un portail Web HTML affichant l'historique des citations du mois.</a:t>
            </a:r>
            <a:endParaRPr lang="fr-FR" sz="1200" noProof="0" dirty="0"/>
          </a:p>
        </p:txBody>
      </p:sp>
      <p:sp>
        <p:nvSpPr>
          <p:cNvPr id="18" name="Shape 15"/>
          <p:cNvSpPr/>
          <p:nvPr/>
        </p:nvSpPr>
        <p:spPr>
          <a:xfrm>
            <a:off x="4800600" y="1965960"/>
            <a:ext cx="4206240" cy="28346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103120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2103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interface</a:t>
            </a:r>
            <a:endParaRPr lang="fr-FR" sz="1300" noProof="0" dirty="0"/>
          </a:p>
        </p:txBody>
      </p:sp>
      <p:sp>
        <p:nvSpPr>
          <p:cNvPr id="21" name="Shape 17"/>
          <p:cNvSpPr/>
          <p:nvPr/>
        </p:nvSpPr>
        <p:spPr>
          <a:xfrm>
            <a:off x="4937760" y="2468880"/>
            <a:ext cx="393192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/>
          <p:cNvSpPr/>
          <p:nvPr/>
        </p:nvSpPr>
        <p:spPr>
          <a:xfrm>
            <a:off x="4937760" y="2578608"/>
            <a:ext cx="3840480" cy="86868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9"/>
          <p:cNvSpPr/>
          <p:nvPr/>
        </p:nvSpPr>
        <p:spPr>
          <a:xfrm>
            <a:off x="5074920" y="2761488"/>
            <a:ext cx="411480" cy="411480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798064"/>
            <a:ext cx="338328" cy="3383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77840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fr-FR" sz="1200" noProof="0" dirty="0"/>
          </a:p>
        </p:txBody>
      </p:sp>
      <p:sp>
        <p:nvSpPr>
          <p:cNvPr id="26" name="Text 21"/>
          <p:cNvSpPr/>
          <p:nvPr/>
        </p:nvSpPr>
        <p:spPr>
          <a:xfrm>
            <a:off x="557784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MOTD système mis à jour automatiquement à chaque connexion SSH</a:t>
            </a:r>
            <a:endParaRPr lang="fr-FR" sz="1000" noProof="0" dirty="0"/>
          </a:p>
        </p:txBody>
      </p:sp>
      <p:sp>
        <p:nvSpPr>
          <p:cNvPr id="27" name="Shape 22"/>
          <p:cNvSpPr/>
          <p:nvPr/>
        </p:nvSpPr>
        <p:spPr>
          <a:xfrm>
            <a:off x="4937760" y="3657600"/>
            <a:ext cx="3840480" cy="86868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3"/>
          <p:cNvSpPr/>
          <p:nvPr/>
        </p:nvSpPr>
        <p:spPr>
          <a:xfrm>
            <a:off x="5074920" y="3840480"/>
            <a:ext cx="411480" cy="411480"/>
          </a:xfrm>
          <a:prstGeom prst="ellipse">
            <a:avLst/>
          </a:prstGeom>
          <a:solidFill>
            <a:srgbClr val="00B8D4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3877056"/>
            <a:ext cx="338328" cy="33832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77840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fr-FR" sz="1200" noProof="0" dirty="0"/>
          </a:p>
        </p:txBody>
      </p:sp>
      <p:sp>
        <p:nvSpPr>
          <p:cNvPr id="31" name="Text 25"/>
          <p:cNvSpPr/>
          <p:nvPr/>
        </p:nvSpPr>
        <p:spPr>
          <a:xfrm>
            <a:off x="5577840" y="40507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visuel des citations en HTML/CSS </a:t>
            </a:r>
            <a:r>
              <a:rPr lang="fr-FR" sz="10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du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3035808" y="347472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fr-FR" sz="26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1005840"/>
            <a:ext cx="8229600" cy="379476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107899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708660" y="107899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868680" y="107899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1051560" y="1042416"/>
            <a:ext cx="7543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projet_motd</a:t>
            </a: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fr-FR" sz="800" noProof="0" dirty="0"/>
          </a:p>
        </p:txBody>
      </p:sp>
      <p:sp>
        <p:nvSpPr>
          <p:cNvPr id="16" name="Text 14"/>
          <p:cNvSpPr/>
          <p:nvPr/>
        </p:nvSpPr>
        <p:spPr>
          <a:xfrm>
            <a:off x="566928" y="1307592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 err="1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projet_motd</a:t>
            </a:r>
            <a:r>
              <a:rPr lang="fr-FR" sz="1050" b="1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fr-FR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1568196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fr-FR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566928" y="1828800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fr-FR" sz="1050" noProof="0" dirty="0" err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api_settings.conf</a:t>
            </a:r>
            <a:endParaRPr lang="fr-FR" sz="1050" noProof="0" dirty="0"/>
          </a:p>
        </p:txBody>
      </p:sp>
      <p:sp>
        <p:nvSpPr>
          <p:cNvPr id="19" name="Text 17"/>
          <p:cNvSpPr/>
          <p:nvPr/>
        </p:nvSpPr>
        <p:spPr>
          <a:xfrm>
            <a:off x="3904488" y="1865376"/>
            <a:ext cx="4572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Choix de l'API (catégorie)</a:t>
            </a:r>
            <a:endParaRPr lang="fr-FR" sz="950" noProof="0" dirty="0"/>
          </a:p>
        </p:txBody>
      </p:sp>
      <p:sp>
        <p:nvSpPr>
          <p:cNvPr id="20" name="Text 18"/>
          <p:cNvSpPr/>
          <p:nvPr/>
        </p:nvSpPr>
        <p:spPr>
          <a:xfrm>
            <a:off x="566928" y="2089404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fr-FR" sz="1050" noProof="0" dirty="0" err="1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</a:t>
            </a:r>
            <a:r>
              <a:rPr lang="fr-FR" sz="10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fr-FR" sz="1050" noProof="0" dirty="0"/>
          </a:p>
        </p:txBody>
      </p:sp>
      <p:sp>
        <p:nvSpPr>
          <p:cNvPr id="21" name="Text 19"/>
          <p:cNvSpPr/>
          <p:nvPr/>
        </p:nvSpPr>
        <p:spPr>
          <a:xfrm>
            <a:off x="566928" y="2350008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fr-FR" sz="1050" noProof="0" dirty="0" err="1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dashboard.html.tpl</a:t>
            </a:r>
            <a:endParaRPr lang="fr-FR" sz="1050" noProof="0" dirty="0"/>
          </a:p>
        </p:txBody>
      </p:sp>
      <p:sp>
        <p:nvSpPr>
          <p:cNvPr id="22" name="Text 20"/>
          <p:cNvSpPr/>
          <p:nvPr/>
        </p:nvSpPr>
        <p:spPr>
          <a:xfrm>
            <a:off x="3904488" y="2386584"/>
            <a:ext cx="4572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Template HTML vue web</a:t>
            </a:r>
            <a:endParaRPr lang="fr-FR" sz="950" noProof="0" dirty="0"/>
          </a:p>
        </p:txBody>
      </p:sp>
      <p:sp>
        <p:nvSpPr>
          <p:cNvPr id="23" name="Text 21"/>
          <p:cNvSpPr/>
          <p:nvPr/>
        </p:nvSpPr>
        <p:spPr>
          <a:xfrm>
            <a:off x="566928" y="2610612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fr-FR" sz="1050" noProof="0" dirty="0"/>
          </a:p>
        </p:txBody>
      </p:sp>
      <p:sp>
        <p:nvSpPr>
          <p:cNvPr id="24" name="Text 22"/>
          <p:cNvSpPr/>
          <p:nvPr/>
        </p:nvSpPr>
        <p:spPr>
          <a:xfrm>
            <a:off x="566928" y="2871216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fr-FR" sz="1050" noProof="0" dirty="0" err="1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quotes_history.json</a:t>
            </a:r>
            <a:endParaRPr lang="fr-FR" sz="1050" noProof="0" dirty="0"/>
          </a:p>
        </p:txBody>
      </p:sp>
      <p:sp>
        <p:nvSpPr>
          <p:cNvPr id="25" name="Text 23"/>
          <p:cNvSpPr/>
          <p:nvPr/>
        </p:nvSpPr>
        <p:spPr>
          <a:xfrm>
            <a:off x="3904488" y="2907792"/>
            <a:ext cx="4572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Historique local (JSON)</a:t>
            </a:r>
            <a:endParaRPr lang="fr-FR" sz="950" noProof="0" dirty="0"/>
          </a:p>
        </p:txBody>
      </p:sp>
      <p:sp>
        <p:nvSpPr>
          <p:cNvPr id="26" name="Text 24"/>
          <p:cNvSpPr/>
          <p:nvPr/>
        </p:nvSpPr>
        <p:spPr>
          <a:xfrm>
            <a:off x="566928" y="3131820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scripts/</a:t>
            </a:r>
            <a:endParaRPr lang="fr-FR" sz="1050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392424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manage_config.sh</a:t>
            </a:r>
            <a:endParaRPr lang="fr-FR" sz="1050" noProof="0" dirty="0"/>
          </a:p>
        </p:txBody>
      </p:sp>
      <p:sp>
        <p:nvSpPr>
          <p:cNvPr id="28" name="Text 26"/>
          <p:cNvSpPr/>
          <p:nvPr/>
        </p:nvSpPr>
        <p:spPr>
          <a:xfrm>
            <a:off x="3904488" y="3429000"/>
            <a:ext cx="4572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Partie 1 : Gestion API (CRUD)</a:t>
            </a:r>
            <a:endParaRPr lang="fr-FR" sz="950" noProof="0" dirty="0"/>
          </a:p>
        </p:txBody>
      </p:sp>
      <p:sp>
        <p:nvSpPr>
          <p:cNvPr id="29" name="Text 27"/>
          <p:cNvSpPr/>
          <p:nvPr/>
        </p:nvSpPr>
        <p:spPr>
          <a:xfrm>
            <a:off x="566928" y="3653028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fetch_quote.sh</a:t>
            </a:r>
            <a:endParaRPr lang="fr-FR" sz="1050" noProof="0" dirty="0"/>
          </a:p>
        </p:txBody>
      </p:sp>
      <p:sp>
        <p:nvSpPr>
          <p:cNvPr id="30" name="Text 28"/>
          <p:cNvSpPr/>
          <p:nvPr/>
        </p:nvSpPr>
        <p:spPr>
          <a:xfrm>
            <a:off x="3904488" y="3689604"/>
            <a:ext cx="4572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Partie 2 : Requête &amp; Parsing</a:t>
            </a:r>
            <a:endParaRPr lang="fr-FR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566928" y="3913632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update_motd.sh</a:t>
            </a:r>
            <a:endParaRPr lang="fr-FR" sz="1050" noProof="0" dirty="0"/>
          </a:p>
        </p:txBody>
      </p:sp>
      <p:sp>
        <p:nvSpPr>
          <p:cNvPr id="32" name="Text 30"/>
          <p:cNvSpPr/>
          <p:nvPr/>
        </p:nvSpPr>
        <p:spPr>
          <a:xfrm>
            <a:off x="3904488" y="3950208"/>
            <a:ext cx="4572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Partie 3 : Injection MOTD</a:t>
            </a:r>
            <a:endParaRPr lang="fr-FR" sz="950" noProof="0" dirty="0"/>
          </a:p>
        </p:txBody>
      </p:sp>
      <p:sp>
        <p:nvSpPr>
          <p:cNvPr id="33" name="Text 31"/>
          <p:cNvSpPr/>
          <p:nvPr/>
        </p:nvSpPr>
        <p:spPr>
          <a:xfrm>
            <a:off x="566928" y="4174236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generate_dashboard.sh</a:t>
            </a:r>
            <a:endParaRPr lang="fr-FR" sz="1050" noProof="0" dirty="0"/>
          </a:p>
        </p:txBody>
      </p:sp>
      <p:sp>
        <p:nvSpPr>
          <p:cNvPr id="34" name="Text 32"/>
          <p:cNvSpPr/>
          <p:nvPr/>
        </p:nvSpPr>
        <p:spPr>
          <a:xfrm>
            <a:off x="3904488" y="4210812"/>
            <a:ext cx="4572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Partie 4 : Génération HTML</a:t>
            </a:r>
            <a:endParaRPr lang="fr-FR" sz="950" noProof="0" dirty="0"/>
          </a:p>
        </p:txBody>
      </p:sp>
      <p:sp>
        <p:nvSpPr>
          <p:cNvPr id="35" name="Text 33"/>
          <p:cNvSpPr/>
          <p:nvPr/>
        </p:nvSpPr>
        <p:spPr>
          <a:xfrm>
            <a:off x="566928" y="4434840"/>
            <a:ext cx="32918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motd_manager.sh</a:t>
            </a:r>
            <a:endParaRPr lang="fr-FR" sz="1050" noProof="0" dirty="0"/>
          </a:p>
        </p:txBody>
      </p:sp>
      <p:sp>
        <p:nvSpPr>
          <p:cNvPr id="36" name="Text 34"/>
          <p:cNvSpPr/>
          <p:nvPr/>
        </p:nvSpPr>
        <p:spPr>
          <a:xfrm>
            <a:off x="3904488" y="4471416"/>
            <a:ext cx="45720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Partie 5 : Menu interactif</a:t>
            </a:r>
            <a:endParaRPr lang="fr-FR" sz="95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 PUBLIQUES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1920240" y="3474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citations</a:t>
            </a:r>
            <a:endParaRPr lang="fr-F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3374136" y="347472"/>
            <a:ext cx="5312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gratuites</a:t>
            </a:r>
            <a:endParaRPr lang="fr-FR" sz="2600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clé d'authentification requise — JSON directement exploitable avec </a:t>
            </a:r>
            <a:r>
              <a:rPr lang="fr-FR" sz="12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fr-F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1591056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1325880"/>
            <a:ext cx="1591056" cy="36576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841248" y="1600200"/>
            <a:ext cx="640080" cy="640080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73352"/>
            <a:ext cx="493776" cy="4937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38912" y="2377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ZenQuotes</a:t>
            </a:r>
            <a:endParaRPr lang="fr-FR" sz="1300" noProof="0" dirty="0"/>
          </a:p>
        </p:txBody>
      </p:sp>
      <p:sp>
        <p:nvSpPr>
          <p:cNvPr id="17" name="Text 14"/>
          <p:cNvSpPr/>
          <p:nvPr/>
        </p:nvSpPr>
        <p:spPr>
          <a:xfrm>
            <a:off x="420624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zenquotes.io/api/</a:t>
            </a:r>
            <a:r>
              <a:rPr lang="fr-FR" sz="850" noProof="0" dirty="0" err="1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fr-FR" sz="850" noProof="0" dirty="0"/>
          </a:p>
        </p:txBody>
      </p:sp>
      <p:sp>
        <p:nvSpPr>
          <p:cNvPr id="18" name="Shape 15"/>
          <p:cNvSpPr/>
          <p:nvPr/>
        </p:nvSpPr>
        <p:spPr>
          <a:xfrm>
            <a:off x="685800" y="3383280"/>
            <a:ext cx="950976" cy="256032"/>
          </a:xfrm>
          <a:prstGeom prst="rect">
            <a:avLst/>
          </a:prstGeom>
          <a:solidFill>
            <a:srgbClr val="00E5A0">
              <a:alpha val="12000"/>
            </a:srgbClr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6"/>
          <p:cNvSpPr/>
          <p:nvPr/>
        </p:nvSpPr>
        <p:spPr>
          <a:xfrm>
            <a:off x="685800" y="338328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Inspirant</a:t>
            </a:r>
            <a:endParaRPr lang="fr-FR" sz="900" noProof="0" dirty="0"/>
          </a:p>
        </p:txBody>
      </p:sp>
      <p:sp>
        <p:nvSpPr>
          <p:cNvPr id="20" name="Shape 17"/>
          <p:cNvSpPr/>
          <p:nvPr/>
        </p:nvSpPr>
        <p:spPr>
          <a:xfrm>
            <a:off x="2057400" y="1325880"/>
            <a:ext cx="1591056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8"/>
          <p:cNvSpPr/>
          <p:nvPr/>
        </p:nvSpPr>
        <p:spPr>
          <a:xfrm>
            <a:off x="2057400" y="1325880"/>
            <a:ext cx="1591056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9"/>
          <p:cNvSpPr/>
          <p:nvPr/>
        </p:nvSpPr>
        <p:spPr>
          <a:xfrm>
            <a:off x="2532888" y="160020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673352"/>
            <a:ext cx="493776" cy="49377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130552" y="2377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Chuck Norris</a:t>
            </a:r>
            <a:endParaRPr lang="fr-FR" sz="1300" noProof="0" dirty="0"/>
          </a:p>
        </p:txBody>
      </p:sp>
      <p:sp>
        <p:nvSpPr>
          <p:cNvPr id="25" name="Text 21"/>
          <p:cNvSpPr/>
          <p:nvPr/>
        </p:nvSpPr>
        <p:spPr>
          <a:xfrm>
            <a:off x="2112264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api.chucknorris.io/jokes/</a:t>
            </a:r>
            <a:r>
              <a:rPr lang="fr-FR" sz="850" noProof="0" dirty="0" err="1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fr-FR" sz="850" noProof="0" dirty="0"/>
          </a:p>
        </p:txBody>
      </p:sp>
      <p:sp>
        <p:nvSpPr>
          <p:cNvPr id="26" name="Shape 22"/>
          <p:cNvSpPr/>
          <p:nvPr/>
        </p:nvSpPr>
        <p:spPr>
          <a:xfrm>
            <a:off x="2377440" y="3383280"/>
            <a:ext cx="950976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3"/>
          <p:cNvSpPr/>
          <p:nvPr/>
        </p:nvSpPr>
        <p:spPr>
          <a:xfrm>
            <a:off x="2377440" y="338328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fr-FR" sz="900" noProof="0" dirty="0"/>
          </a:p>
        </p:txBody>
      </p:sp>
      <p:sp>
        <p:nvSpPr>
          <p:cNvPr id="28" name="Shape 24"/>
          <p:cNvSpPr/>
          <p:nvPr/>
        </p:nvSpPr>
        <p:spPr>
          <a:xfrm>
            <a:off x="3749040" y="1325880"/>
            <a:ext cx="1591056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5"/>
          <p:cNvSpPr/>
          <p:nvPr/>
        </p:nvSpPr>
        <p:spPr>
          <a:xfrm>
            <a:off x="3749040" y="1325880"/>
            <a:ext cx="1591056" cy="36576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6"/>
          <p:cNvSpPr/>
          <p:nvPr/>
        </p:nvSpPr>
        <p:spPr>
          <a:xfrm>
            <a:off x="4224528" y="1600200"/>
            <a:ext cx="640080" cy="640080"/>
          </a:xfrm>
          <a:prstGeom prst="ellipse">
            <a:avLst/>
          </a:prstGeom>
          <a:solidFill>
            <a:srgbClr val="00B8D4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673352"/>
            <a:ext cx="493776" cy="49377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3822192" y="2377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</a:t>
            </a:r>
            <a:r>
              <a:rPr lang="fr-FR" sz="13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Slip</a:t>
            </a:r>
            <a:endParaRPr lang="fr-FR" sz="1300" noProof="0" dirty="0"/>
          </a:p>
        </p:txBody>
      </p:sp>
      <p:sp>
        <p:nvSpPr>
          <p:cNvPr id="33" name="Text 28"/>
          <p:cNvSpPr/>
          <p:nvPr/>
        </p:nvSpPr>
        <p:spPr>
          <a:xfrm>
            <a:off x="3803904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api.adviceslip.com/</a:t>
            </a:r>
            <a:r>
              <a:rPr lang="fr-FR" sz="850" noProof="0" dirty="0" err="1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advice</a:t>
            </a:r>
            <a:endParaRPr lang="fr-FR" sz="850" noProof="0" dirty="0"/>
          </a:p>
        </p:txBody>
      </p:sp>
      <p:sp>
        <p:nvSpPr>
          <p:cNvPr id="34" name="Shape 29"/>
          <p:cNvSpPr/>
          <p:nvPr/>
        </p:nvSpPr>
        <p:spPr>
          <a:xfrm>
            <a:off x="4069080" y="3383280"/>
            <a:ext cx="950976" cy="256032"/>
          </a:xfrm>
          <a:prstGeom prst="rect">
            <a:avLst/>
          </a:prstGeom>
          <a:solidFill>
            <a:srgbClr val="00B8D4">
              <a:alpha val="12000"/>
            </a:srgbClr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0"/>
          <p:cNvSpPr/>
          <p:nvPr/>
        </p:nvSpPr>
        <p:spPr>
          <a:xfrm>
            <a:off x="4069080" y="338328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</a:t>
            </a:r>
            <a:endParaRPr lang="fr-FR" sz="900" noProof="0" dirty="0"/>
          </a:p>
        </p:txBody>
      </p:sp>
      <p:sp>
        <p:nvSpPr>
          <p:cNvPr id="36" name="Shape 31"/>
          <p:cNvSpPr/>
          <p:nvPr/>
        </p:nvSpPr>
        <p:spPr>
          <a:xfrm>
            <a:off x="5440680" y="1325880"/>
            <a:ext cx="1591056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2"/>
          <p:cNvSpPr/>
          <p:nvPr/>
        </p:nvSpPr>
        <p:spPr>
          <a:xfrm>
            <a:off x="5440680" y="1325880"/>
            <a:ext cx="1591056" cy="36576"/>
          </a:xfrm>
          <a:prstGeom prst="rect">
            <a:avLst/>
          </a:prstGeom>
          <a:solidFill>
            <a:srgbClr val="7C5CF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3"/>
          <p:cNvSpPr/>
          <p:nvPr/>
        </p:nvSpPr>
        <p:spPr>
          <a:xfrm>
            <a:off x="5916168" y="1600200"/>
            <a:ext cx="640080" cy="640080"/>
          </a:xfrm>
          <a:prstGeom prst="ellipse">
            <a:avLst/>
          </a:prstGeom>
          <a:solidFill>
            <a:srgbClr val="7C5CFC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1673352"/>
            <a:ext cx="493776" cy="49377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513832" y="2377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 Jokes</a:t>
            </a:r>
            <a:endParaRPr lang="fr-FR" sz="1300" noProof="0" dirty="0"/>
          </a:p>
        </p:txBody>
      </p:sp>
      <p:sp>
        <p:nvSpPr>
          <p:cNvPr id="41" name="Text 35"/>
          <p:cNvSpPr/>
          <p:nvPr/>
        </p:nvSpPr>
        <p:spPr>
          <a:xfrm>
            <a:off x="5495544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geek-</a:t>
            </a:r>
            <a:r>
              <a:rPr lang="fr-FR" sz="850" noProof="0" dirty="0" err="1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jokes.sameerkumar.website</a:t>
            </a:r>
            <a:endParaRPr lang="fr-FR" sz="850" noProof="0" dirty="0"/>
          </a:p>
        </p:txBody>
      </p:sp>
      <p:sp>
        <p:nvSpPr>
          <p:cNvPr id="42" name="Shape 36"/>
          <p:cNvSpPr/>
          <p:nvPr/>
        </p:nvSpPr>
        <p:spPr>
          <a:xfrm>
            <a:off x="5760720" y="3383280"/>
            <a:ext cx="950976" cy="256032"/>
          </a:xfrm>
          <a:prstGeom prst="rect">
            <a:avLst/>
          </a:prstGeom>
          <a:solidFill>
            <a:srgbClr val="7C5CFC">
              <a:alpha val="12000"/>
            </a:srgbClr>
          </a:solidFill>
          <a:ln w="635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37"/>
          <p:cNvSpPr/>
          <p:nvPr/>
        </p:nvSpPr>
        <p:spPr>
          <a:xfrm>
            <a:off x="5760720" y="338328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fr-FR" sz="900" noProof="0" dirty="0"/>
          </a:p>
        </p:txBody>
      </p:sp>
      <p:sp>
        <p:nvSpPr>
          <p:cNvPr id="44" name="Shape 38"/>
          <p:cNvSpPr/>
          <p:nvPr/>
        </p:nvSpPr>
        <p:spPr>
          <a:xfrm>
            <a:off x="7132320" y="1325880"/>
            <a:ext cx="1591056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Shape 39"/>
          <p:cNvSpPr/>
          <p:nvPr/>
        </p:nvSpPr>
        <p:spPr>
          <a:xfrm>
            <a:off x="7132320" y="1325880"/>
            <a:ext cx="1591056" cy="365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Shape 40"/>
          <p:cNvSpPr/>
          <p:nvPr/>
        </p:nvSpPr>
        <p:spPr>
          <a:xfrm>
            <a:off x="7607808" y="1600200"/>
            <a:ext cx="640080" cy="64008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673352"/>
            <a:ext cx="493776" cy="493776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205472" y="2377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Kanye </a:t>
            </a:r>
            <a:r>
              <a:rPr lang="fr-FR" sz="13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fr-FR" sz="1300" noProof="0" dirty="0"/>
          </a:p>
        </p:txBody>
      </p:sp>
      <p:sp>
        <p:nvSpPr>
          <p:cNvPr id="49" name="Text 42"/>
          <p:cNvSpPr/>
          <p:nvPr/>
        </p:nvSpPr>
        <p:spPr>
          <a:xfrm>
            <a:off x="7187184" y="27432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50" noProof="0" dirty="0" err="1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api.kanye.rest</a:t>
            </a:r>
            <a:endParaRPr lang="fr-FR" sz="850" noProof="0" dirty="0"/>
          </a:p>
        </p:txBody>
      </p:sp>
      <p:sp>
        <p:nvSpPr>
          <p:cNvPr id="50" name="Shape 43"/>
          <p:cNvSpPr/>
          <p:nvPr/>
        </p:nvSpPr>
        <p:spPr>
          <a:xfrm>
            <a:off x="7452360" y="3383280"/>
            <a:ext cx="950976" cy="256032"/>
          </a:xfrm>
          <a:prstGeom prst="rect">
            <a:avLst/>
          </a:prstGeom>
          <a:solidFill>
            <a:srgbClr val="EF4444">
              <a:alpha val="12000"/>
            </a:srgbClr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44"/>
          <p:cNvSpPr/>
          <p:nvPr/>
        </p:nvSpPr>
        <p:spPr>
          <a:xfrm>
            <a:off x="7452360" y="338328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fr-FR" sz="9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PARTIE 1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la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2514600" y="347472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fr-F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manage_config.sh — Menu CRUD pour le choix de l'API</a:t>
            </a:r>
            <a:endParaRPr lang="fr-F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411480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CRUD</a:t>
            </a:r>
            <a:endParaRPr lang="fr-FR" sz="1300" noProof="0" dirty="0"/>
          </a:p>
        </p:txBody>
      </p:sp>
      <p:sp>
        <p:nvSpPr>
          <p:cNvPr id="14" name="Shape 11"/>
          <p:cNvSpPr/>
          <p:nvPr/>
        </p:nvSpPr>
        <p:spPr>
          <a:xfrm>
            <a:off x="594360" y="1764792"/>
            <a:ext cx="384048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2"/>
          <p:cNvSpPr/>
          <p:nvPr/>
        </p:nvSpPr>
        <p:spPr>
          <a:xfrm>
            <a:off x="594360" y="1874520"/>
            <a:ext cx="384048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3"/>
          <p:cNvSpPr/>
          <p:nvPr/>
        </p:nvSpPr>
        <p:spPr>
          <a:xfrm>
            <a:off x="713232" y="1984248"/>
            <a:ext cx="347472" cy="347472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020824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192938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fr-FR" sz="1200" noProof="0" dirty="0"/>
          </a:p>
        </p:txBody>
      </p:sp>
      <p:sp>
        <p:nvSpPr>
          <p:cNvPr id="19" name="Text 15"/>
          <p:cNvSpPr/>
          <p:nvPr/>
        </p:nvSpPr>
        <p:spPr>
          <a:xfrm>
            <a:off x="1143000" y="21762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nouvelle source API avec son URL et catégorie</a:t>
            </a:r>
            <a:endParaRPr lang="fr-FR" sz="1000" noProof="0" dirty="0"/>
          </a:p>
        </p:txBody>
      </p:sp>
      <p:sp>
        <p:nvSpPr>
          <p:cNvPr id="20" name="Shape 16"/>
          <p:cNvSpPr/>
          <p:nvPr/>
        </p:nvSpPr>
        <p:spPr>
          <a:xfrm>
            <a:off x="594360" y="2624328"/>
            <a:ext cx="384048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7"/>
          <p:cNvSpPr/>
          <p:nvPr/>
        </p:nvSpPr>
        <p:spPr>
          <a:xfrm>
            <a:off x="713232" y="2734056"/>
            <a:ext cx="347472" cy="347472"/>
          </a:xfrm>
          <a:prstGeom prst="ellipse">
            <a:avLst/>
          </a:prstGeom>
          <a:solidFill>
            <a:srgbClr val="00B8D4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77063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43000" y="2679192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fr-FR" sz="1200" noProof="0" dirty="0"/>
          </a:p>
        </p:txBody>
      </p:sp>
      <p:sp>
        <p:nvSpPr>
          <p:cNvPr id="24" name="Text 19"/>
          <p:cNvSpPr/>
          <p:nvPr/>
        </p:nvSpPr>
        <p:spPr>
          <a:xfrm>
            <a:off x="1143000" y="29260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la configuration API active actuellement</a:t>
            </a:r>
            <a:endParaRPr lang="fr-FR" sz="1000" noProof="0" dirty="0"/>
          </a:p>
        </p:txBody>
      </p:sp>
      <p:sp>
        <p:nvSpPr>
          <p:cNvPr id="25" name="Shape 20"/>
          <p:cNvSpPr/>
          <p:nvPr/>
        </p:nvSpPr>
        <p:spPr>
          <a:xfrm>
            <a:off x="594360" y="3374136"/>
            <a:ext cx="384048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1"/>
          <p:cNvSpPr/>
          <p:nvPr/>
        </p:nvSpPr>
        <p:spPr>
          <a:xfrm>
            <a:off x="713232" y="3483864"/>
            <a:ext cx="347472" cy="347472"/>
          </a:xfrm>
          <a:prstGeom prst="ellipse">
            <a:avLst/>
          </a:prstGeom>
          <a:solidFill>
            <a:srgbClr val="7C5CFC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5204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43000" y="342900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fr-FR" sz="1200" noProof="0" dirty="0"/>
          </a:p>
        </p:txBody>
      </p:sp>
      <p:sp>
        <p:nvSpPr>
          <p:cNvPr id="29" name="Text 23"/>
          <p:cNvSpPr/>
          <p:nvPr/>
        </p:nvSpPr>
        <p:spPr>
          <a:xfrm>
            <a:off x="1143000" y="3675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l'API sélectionnée parmi les sources disponibles</a:t>
            </a:r>
            <a:endParaRPr lang="fr-FR" sz="1000" noProof="0" dirty="0"/>
          </a:p>
        </p:txBody>
      </p:sp>
      <p:sp>
        <p:nvSpPr>
          <p:cNvPr id="30" name="Shape 24"/>
          <p:cNvSpPr/>
          <p:nvPr/>
        </p:nvSpPr>
        <p:spPr>
          <a:xfrm>
            <a:off x="594360" y="4123944"/>
            <a:ext cx="384048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Shape 25"/>
          <p:cNvSpPr/>
          <p:nvPr/>
        </p:nvSpPr>
        <p:spPr>
          <a:xfrm>
            <a:off x="713232" y="4233672"/>
            <a:ext cx="347472" cy="347472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270248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43000" y="4178808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fr-FR" sz="1200" noProof="0" dirty="0"/>
          </a:p>
        </p:txBody>
      </p:sp>
      <p:sp>
        <p:nvSpPr>
          <p:cNvPr id="34" name="Text 27"/>
          <p:cNvSpPr/>
          <p:nvPr/>
        </p:nvSpPr>
        <p:spPr>
          <a:xfrm>
            <a:off x="1143000" y="44256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source API de la configuration</a:t>
            </a:r>
            <a:endParaRPr lang="fr-FR" sz="1000" noProof="0" dirty="0"/>
          </a:p>
        </p:txBody>
      </p:sp>
      <p:sp>
        <p:nvSpPr>
          <p:cNvPr id="35" name="Shape 28"/>
          <p:cNvSpPr/>
          <p:nvPr/>
        </p:nvSpPr>
        <p:spPr>
          <a:xfrm>
            <a:off x="4754880" y="1280160"/>
            <a:ext cx="4114800" cy="21031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29"/>
          <p:cNvSpPr/>
          <p:nvPr/>
        </p:nvSpPr>
        <p:spPr>
          <a:xfrm>
            <a:off x="4754880" y="1280160"/>
            <a:ext cx="41148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0"/>
          <p:cNvSpPr/>
          <p:nvPr/>
        </p:nvSpPr>
        <p:spPr>
          <a:xfrm>
            <a:off x="4846320" y="135331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31"/>
          <p:cNvSpPr/>
          <p:nvPr/>
        </p:nvSpPr>
        <p:spPr>
          <a:xfrm>
            <a:off x="5006340" y="135331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Shape 32"/>
          <p:cNvSpPr/>
          <p:nvPr/>
        </p:nvSpPr>
        <p:spPr>
          <a:xfrm>
            <a:off x="5166360" y="135331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3"/>
          <p:cNvSpPr/>
          <p:nvPr/>
        </p:nvSpPr>
        <p:spPr>
          <a:xfrm>
            <a:off x="5349240" y="13167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manage_config.sh</a:t>
            </a:r>
            <a:endParaRPr lang="fr-FR" sz="800" noProof="0" dirty="0"/>
          </a:p>
        </p:txBody>
      </p:sp>
      <p:sp>
        <p:nvSpPr>
          <p:cNvPr id="41" name="Text 34"/>
          <p:cNvSpPr/>
          <p:nvPr/>
        </p:nvSpPr>
        <p:spPr>
          <a:xfrm>
            <a:off x="4864608" y="1581912"/>
            <a:ext cx="38953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Fichier de configuration généré
</a:t>
            </a:r>
            <a:r>
              <a:rPr lang="fr-FR" sz="100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API_NAME</a:t>
            </a:r>
            <a:r>
              <a:rPr lang="fr-FR" sz="100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fr-FR" sz="100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fr-FR" sz="1000" noProof="0" dirty="0" err="1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ZenQuotes</a:t>
            </a:r>
            <a:r>
              <a:rPr lang="fr-FR" sz="100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
</a:t>
            </a:r>
            <a:r>
              <a:rPr lang="fr-FR" sz="100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API_URL</a:t>
            </a:r>
            <a:r>
              <a:rPr lang="fr-FR" sz="100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fr-FR" sz="100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"https://zenquotes.io/api/</a:t>
            </a:r>
            <a:r>
              <a:rPr lang="fr-FR" sz="1000" noProof="0" dirty="0" err="1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fr-FR" sz="100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
</a:t>
            </a:r>
            <a:r>
              <a:rPr lang="fr-FR" sz="100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API_CATEGORY</a:t>
            </a:r>
            <a:r>
              <a:rPr lang="fr-FR" sz="100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fr-FR" sz="100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"inspirant"
</a:t>
            </a:r>
            <a:r>
              <a:rPr lang="fr-FR" sz="100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r>
              <a:rPr lang="fr-FR" sz="100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fr-FR" sz="100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fr-FR" sz="1000" noProof="0" dirty="0" err="1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fr-FR" sz="100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fr-FR" sz="1000" noProof="0" dirty="0"/>
          </a:p>
        </p:txBody>
      </p:sp>
      <p:sp>
        <p:nvSpPr>
          <p:cNvPr id="42" name="Shape 35"/>
          <p:cNvSpPr/>
          <p:nvPr/>
        </p:nvSpPr>
        <p:spPr>
          <a:xfrm>
            <a:off x="4754880" y="3520440"/>
            <a:ext cx="411480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639312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230368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dans config/</a:t>
            </a:r>
            <a:r>
              <a:rPr lang="fr-FR" sz="1100" noProof="0" dirty="0" err="1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api_settings.conf</a:t>
            </a:r>
            <a:endParaRPr lang="fr-FR" sz="1100" noProof="0" dirty="0"/>
          </a:p>
        </p:txBody>
      </p:sp>
      <p:sp>
        <p:nvSpPr>
          <p:cNvPr id="45" name="Text 37"/>
          <p:cNvSpPr/>
          <p:nvPr/>
        </p:nvSpPr>
        <p:spPr>
          <a:xfrm>
            <a:off x="4892040" y="395020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est lu par tous les autres scripts via source "$CONFIG_FILE"</a:t>
            </a:r>
            <a:endParaRPr lang="fr-FR" sz="105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PARTIE 2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&amp;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2743200" y="34747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fr-F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fetch_quote.sh — Interroger l'API et extraire la citation avec </a:t>
            </a:r>
            <a:r>
              <a:rPr lang="fr-FR" sz="11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fr-F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594360" y="1298448"/>
            <a:ext cx="169164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1239012" y="1408176"/>
            <a:ext cx="402336" cy="402336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1444752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1856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config</a:t>
            </a:r>
            <a:endParaRPr lang="fr-FR" sz="1100" noProof="0" dirty="0"/>
          </a:p>
        </p:txBody>
      </p:sp>
      <p:sp>
        <p:nvSpPr>
          <p:cNvPr id="15" name="Shape 12"/>
          <p:cNvSpPr/>
          <p:nvPr/>
        </p:nvSpPr>
        <p:spPr>
          <a:xfrm>
            <a:off x="2322576" y="1691640"/>
            <a:ext cx="246888" cy="4572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3"/>
          <p:cNvSpPr/>
          <p:nvPr/>
        </p:nvSpPr>
        <p:spPr>
          <a:xfrm>
            <a:off x="2459736" y="156893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600" noProof="0" dirty="0"/>
          </a:p>
        </p:txBody>
      </p:sp>
      <p:sp>
        <p:nvSpPr>
          <p:cNvPr id="17" name="Shape 14"/>
          <p:cNvSpPr/>
          <p:nvPr/>
        </p:nvSpPr>
        <p:spPr>
          <a:xfrm>
            <a:off x="2606040" y="1298448"/>
            <a:ext cx="169164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5"/>
          <p:cNvSpPr/>
          <p:nvPr/>
        </p:nvSpPr>
        <p:spPr>
          <a:xfrm>
            <a:off x="3250692" y="1408176"/>
            <a:ext cx="402336" cy="402336"/>
          </a:xfrm>
          <a:prstGeom prst="ellipse">
            <a:avLst/>
          </a:prstGeom>
          <a:solidFill>
            <a:srgbClr val="00B8D4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268" y="1444752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06040" y="1856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r>
              <a:rPr lang="fr-FR" sz="11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</a:t>
            </a:r>
            <a:endParaRPr lang="fr-FR" sz="1100" noProof="0" dirty="0"/>
          </a:p>
        </p:txBody>
      </p:sp>
      <p:sp>
        <p:nvSpPr>
          <p:cNvPr id="21" name="Shape 17"/>
          <p:cNvSpPr/>
          <p:nvPr/>
        </p:nvSpPr>
        <p:spPr>
          <a:xfrm>
            <a:off x="4334256" y="1691640"/>
            <a:ext cx="246888" cy="4572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8"/>
          <p:cNvSpPr/>
          <p:nvPr/>
        </p:nvSpPr>
        <p:spPr>
          <a:xfrm>
            <a:off x="4471416" y="156755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600" noProof="0" dirty="0"/>
          </a:p>
        </p:txBody>
      </p:sp>
      <p:sp>
        <p:nvSpPr>
          <p:cNvPr id="23" name="Shape 19"/>
          <p:cNvSpPr/>
          <p:nvPr/>
        </p:nvSpPr>
        <p:spPr>
          <a:xfrm>
            <a:off x="4617720" y="1298448"/>
            <a:ext cx="169164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0"/>
          <p:cNvSpPr/>
          <p:nvPr/>
        </p:nvSpPr>
        <p:spPr>
          <a:xfrm>
            <a:off x="5262372" y="1408176"/>
            <a:ext cx="402336" cy="402336"/>
          </a:xfrm>
          <a:prstGeom prst="ellipse">
            <a:avLst/>
          </a:prstGeom>
          <a:solidFill>
            <a:srgbClr val="7C5CFC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948" y="1444752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17720" y="1856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r>
              <a:rPr lang="fr-FR" sz="11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parse</a:t>
            </a:r>
            <a:endParaRPr lang="fr-FR" sz="1100" noProof="0" dirty="0"/>
          </a:p>
        </p:txBody>
      </p:sp>
      <p:sp>
        <p:nvSpPr>
          <p:cNvPr id="27" name="Shape 22"/>
          <p:cNvSpPr/>
          <p:nvPr/>
        </p:nvSpPr>
        <p:spPr>
          <a:xfrm>
            <a:off x="6345936" y="1691640"/>
            <a:ext cx="246888" cy="4572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3"/>
          <p:cNvSpPr/>
          <p:nvPr/>
        </p:nvSpPr>
        <p:spPr>
          <a:xfrm>
            <a:off x="6486525" y="1570839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600" noProof="0" dirty="0"/>
          </a:p>
        </p:txBody>
      </p:sp>
      <p:sp>
        <p:nvSpPr>
          <p:cNvPr id="29" name="Shape 24"/>
          <p:cNvSpPr/>
          <p:nvPr/>
        </p:nvSpPr>
        <p:spPr>
          <a:xfrm>
            <a:off x="6629400" y="1298448"/>
            <a:ext cx="169164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5"/>
          <p:cNvSpPr/>
          <p:nvPr/>
        </p:nvSpPr>
        <p:spPr>
          <a:xfrm>
            <a:off x="7274052" y="1408176"/>
            <a:ext cx="402336" cy="402336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28" y="1444752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29400" y="185623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store</a:t>
            </a:r>
            <a:endParaRPr lang="fr-FR" sz="1100" noProof="0" dirty="0"/>
          </a:p>
        </p:txBody>
      </p:sp>
      <p:sp>
        <p:nvSpPr>
          <p:cNvPr id="33" name="Shape 27"/>
          <p:cNvSpPr/>
          <p:nvPr/>
        </p:nvSpPr>
        <p:spPr>
          <a:xfrm>
            <a:off x="457200" y="2286000"/>
            <a:ext cx="8229600" cy="251460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28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Shape 29"/>
          <p:cNvSpPr/>
          <p:nvPr/>
        </p:nvSpPr>
        <p:spPr>
          <a:xfrm>
            <a:off x="548640" y="2359152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Shape 30"/>
          <p:cNvSpPr/>
          <p:nvPr/>
        </p:nvSpPr>
        <p:spPr>
          <a:xfrm>
            <a:off x="708660" y="2359152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1"/>
          <p:cNvSpPr/>
          <p:nvPr/>
        </p:nvSpPr>
        <p:spPr>
          <a:xfrm>
            <a:off x="868680" y="2359152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2"/>
          <p:cNvSpPr/>
          <p:nvPr/>
        </p:nvSpPr>
        <p:spPr>
          <a:xfrm>
            <a:off x="1051560" y="2322576"/>
            <a:ext cx="7543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fetch_quote.sh</a:t>
            </a:r>
            <a:endParaRPr lang="fr-FR" sz="800" noProof="0" dirty="0"/>
          </a:p>
        </p:txBody>
      </p:sp>
      <p:sp>
        <p:nvSpPr>
          <p:cNvPr id="39" name="Text 33"/>
          <p:cNvSpPr/>
          <p:nvPr/>
        </p:nvSpPr>
        <p:spPr>
          <a:xfrm>
            <a:off x="566928" y="2587752"/>
            <a:ext cx="8010144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Requête API + extraction avec </a:t>
            </a:r>
            <a:r>
              <a:rPr lang="fr-FR" sz="1050" i="1" noProof="0" dirty="0" err="1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</a:t>
            </a:r>
            <a:r>
              <a:rPr lang="fr-FR" sz="10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fr-FR" sz="10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fr-FR" sz="1050" noProof="0" dirty="0" err="1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 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"$API_URL"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fr-FR" sz="1050" noProof="0" dirty="0" err="1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 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'.[0].q + " — " + .[0].a'
</a:t>
            </a:r>
            <a:r>
              <a:rPr lang="fr-FR" sz="10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Résultat
</a:t>
            </a:r>
            <a:r>
              <a:rPr lang="fr-FR" sz="10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</a:t>
            </a:r>
            <a:r>
              <a:rPr lang="fr-FR" sz="105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</a:t>
            </a:r>
            <a:r>
              <a:rPr lang="fr-FR" sz="10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</a:t>
            </a:r>
            <a:r>
              <a:rPr lang="fr-FR" sz="10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do </a:t>
            </a:r>
            <a:r>
              <a:rPr lang="fr-FR" sz="105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</a:t>
            </a:r>
            <a:r>
              <a:rPr lang="fr-FR" sz="10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</a:t>
            </a:r>
            <a:r>
              <a:rPr lang="fr-FR" sz="10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fr-FR" sz="10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love </a:t>
            </a:r>
            <a:r>
              <a:rPr lang="fr-FR" sz="105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r>
              <a:rPr lang="fr-FR" sz="10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</a:t>
            </a:r>
            <a:r>
              <a:rPr lang="fr-FR" sz="10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do. — Steve Jobs"
</a:t>
            </a:r>
            <a:r>
              <a:rPr lang="fr-FR" sz="10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Ajout à l'historique
</a:t>
            </a:r>
            <a:r>
              <a:rPr lang="fr-FR" sz="10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fr-FR" sz="1050" noProof="0" dirty="0" err="1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jq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--arg </a:t>
            </a:r>
            <a:r>
              <a:rPr lang="fr-FR" sz="1050" noProof="0" dirty="0" err="1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"$QUOTE" </a:t>
            </a:r>
            <a:r>
              <a:rPr lang="fr-FR" sz="1050" noProof="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--arg 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"$DATE" '. += [{"</a:t>
            </a:r>
            <a:r>
              <a:rPr lang="fr-FR" sz="1050" noProof="0" dirty="0" err="1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$</a:t>
            </a:r>
            <a:r>
              <a:rPr lang="fr-FR" sz="1050" noProof="0" dirty="0" err="1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"date": $date}]'</a:t>
            </a:r>
            <a:endParaRPr lang="fr-FR" sz="105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PARTIE 3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Formatage ASCII &amp;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3182112" y="347472"/>
            <a:ext cx="5504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MOTD</a:t>
            </a:r>
            <a:endParaRPr lang="fr-F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update_motd.sh — Encadrer la citation et l'injecter dans le système</a:t>
            </a:r>
            <a:endParaRPr lang="fr-F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1298448"/>
            <a:ext cx="4114800" cy="23774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594360" y="1417320"/>
            <a:ext cx="3840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_________________________________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The </a:t>
            </a:r>
            <a:r>
              <a:rPr lang="fr-FR" sz="950" noProof="0" dirty="0" err="1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</a:t>
            </a: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50" noProof="0" dirty="0" err="1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</a:t>
            </a: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do </a:t>
            </a:r>
            <a:r>
              <a:rPr lang="fr-FR" sz="950" noProof="0" dirty="0" err="1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</a:t>
            </a: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50" noProof="0" dirty="0" err="1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</a:t>
            </a: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\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</a:t>
            </a:r>
            <a:r>
              <a:rPr lang="fr-FR" sz="950" noProof="0" dirty="0" err="1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love </a:t>
            </a:r>
            <a:r>
              <a:rPr lang="fr-FR" sz="950" noProof="0" dirty="0" err="1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950" noProof="0" dirty="0" err="1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</a:t>
            </a: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do.         |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                                 /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---------------------------------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\   ^__^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\  (</a:t>
            </a:r>
            <a:r>
              <a:rPr lang="fr-FR" sz="950" noProof="0" dirty="0" err="1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</a:t>
            </a: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)\_______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(__)\       )\/\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||----w |</a:t>
            </a:r>
            <a:endParaRPr lang="fr-FR" sz="950" noProof="0" dirty="0"/>
          </a:p>
          <a:p>
            <a:pPr marL="0" indent="0">
              <a:buNone/>
            </a:pPr>
            <a:r>
              <a:rPr lang="fr-FR" sz="95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||     ||</a:t>
            </a:r>
            <a:endParaRPr lang="fr-FR" sz="950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Formatage via </a:t>
            </a:r>
            <a:r>
              <a:rPr lang="fr-FR" sz="10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cowsay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encadrement ASCII personnalisé</a:t>
            </a:r>
            <a:endParaRPr lang="fr-FR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4114800" cy="21031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4754880" y="1298448"/>
            <a:ext cx="41148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5006340" y="1371600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6"/>
          <p:cNvSpPr/>
          <p:nvPr/>
        </p:nvSpPr>
        <p:spPr>
          <a:xfrm>
            <a:off x="5166360" y="137160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5349240" y="13350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update_motd.sh — logique</a:t>
            </a:r>
            <a:endParaRPr lang="fr-FR" sz="800" noProof="0" dirty="0"/>
          </a:p>
        </p:txBody>
      </p:sp>
      <p:sp>
        <p:nvSpPr>
          <p:cNvPr id="20" name="Text 18"/>
          <p:cNvSpPr/>
          <p:nvPr/>
        </p:nvSpPr>
        <p:spPr>
          <a:xfrm>
            <a:off x="4864608" y="1600200"/>
            <a:ext cx="38953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 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$(id -u)</a:t>
            </a:r>
            <a:r>
              <a:rPr lang="fr-FR" sz="1050" noProof="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-eq 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]; </a:t>
            </a:r>
            <a:r>
              <a:rPr lang="fr-FR" sz="1050" noProof="0" dirty="0" err="1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fr-FR" sz="105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fr-FR" sz="1050" noProof="0" dirty="0" err="1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"$FORMATTED"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/</a:t>
            </a:r>
            <a:r>
              <a:rPr lang="fr-FR" sz="1050" noProof="0" dirty="0" err="1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fr-FR" sz="1050" noProof="0" dirty="0" err="1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motd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fr-FR" sz="10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↑ Injection MOTD système
</a:t>
            </a:r>
            <a:r>
              <a:rPr lang="fr-FR" sz="1050" noProof="0" dirty="0" err="1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fr-FR" sz="105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fr-FR" sz="1050" noProof="0" dirty="0" err="1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fr-FR" sz="1050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fr-FR" sz="1050" noProof="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"$FORMATTED"</a:t>
            </a:r>
            <a:r>
              <a:rPr lang="fr-FR" sz="1050" i="1" noProof="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# ↑ Affichage console locale
</a:t>
            </a:r>
            <a:r>
              <a:rPr lang="fr-FR" sz="1050" noProof="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fr-FR" sz="1050" noProof="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1920240" cy="292608"/>
          </a:xfrm>
          <a:prstGeom prst="rect">
            <a:avLst/>
          </a:prstGeom>
          <a:solidFill>
            <a:srgbClr val="00E5A0">
              <a:alpha val="12000"/>
            </a:srgbClr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Root : écriture /</a:t>
            </a:r>
            <a:r>
              <a:rPr lang="fr-FR" sz="1000" b="1" noProof="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fr-FR" sz="10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1000" b="1" noProof="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motd</a:t>
            </a:r>
            <a:endParaRPr lang="fr-FR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6812280" y="3520440"/>
            <a:ext cx="2057400" cy="292608"/>
          </a:xfrm>
          <a:prstGeom prst="rect">
            <a:avLst/>
          </a:prstGeom>
          <a:solidFill>
            <a:srgbClr val="00B8D4">
              <a:alpha val="12000"/>
            </a:srgbClr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6812280" y="35204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User : affichage console</a:t>
            </a:r>
            <a:endParaRPr lang="fr-FR" sz="10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PARTIE 4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2852928" y="347472"/>
            <a:ext cx="5833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fr-F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generate_dashboard.sh — Génération HTML avec CSS Card </a:t>
            </a:r>
            <a:r>
              <a:rPr lang="fr-FR" sz="11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fr-F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1298448"/>
            <a:ext cx="8229600" cy="246888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566928" y="1362456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704088" y="1362456"/>
            <a:ext cx="91440" cy="91440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841248" y="1362456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1005840" y="13533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file:///projet_motd/data/dashboard.html</a:t>
            </a:r>
            <a:endParaRPr lang="fr-FR" sz="850" noProof="0" dirty="0"/>
          </a:p>
        </p:txBody>
      </p:sp>
      <p:sp>
        <p:nvSpPr>
          <p:cNvPr id="17" name="Shape 15"/>
          <p:cNvSpPr/>
          <p:nvPr/>
        </p:nvSpPr>
        <p:spPr>
          <a:xfrm>
            <a:off x="594360" y="1719072"/>
            <a:ext cx="2514600" cy="1920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6"/>
          <p:cNvSpPr/>
          <p:nvPr/>
        </p:nvSpPr>
        <p:spPr>
          <a:xfrm>
            <a:off x="594360" y="1719072"/>
            <a:ext cx="2514600" cy="36576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704088" y="1828800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do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love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do."</a:t>
            </a:r>
            <a:endParaRPr lang="fr-FR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704088" y="283464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Steve Jobs</a:t>
            </a:r>
            <a:endParaRPr lang="fr-FR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704088" y="3108960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2026-04-28</a:t>
            </a:r>
            <a:endParaRPr lang="fr-FR" sz="900" noProof="0" dirty="0"/>
          </a:p>
        </p:txBody>
      </p:sp>
      <p:sp>
        <p:nvSpPr>
          <p:cNvPr id="22" name="Shape 20"/>
          <p:cNvSpPr/>
          <p:nvPr/>
        </p:nvSpPr>
        <p:spPr>
          <a:xfrm>
            <a:off x="3337560" y="1719072"/>
            <a:ext cx="2514600" cy="1920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3337560" y="1719072"/>
            <a:ext cx="2514600" cy="36576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3447288" y="1828800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"Chuck Norris can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and finish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</a:t>
            </a:r>
            <a:endParaRPr lang="fr-FR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3447288" y="283464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Chuck Norris API</a:t>
            </a:r>
            <a:endParaRPr lang="fr-FR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3447288" y="3108960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2026-04-29</a:t>
            </a:r>
            <a:endParaRPr lang="fr-FR" sz="900" noProof="0" dirty="0"/>
          </a:p>
        </p:txBody>
      </p:sp>
      <p:sp>
        <p:nvSpPr>
          <p:cNvPr id="27" name="Shape 25"/>
          <p:cNvSpPr/>
          <p:nvPr/>
        </p:nvSpPr>
        <p:spPr>
          <a:xfrm>
            <a:off x="6080760" y="1719072"/>
            <a:ext cx="2514600" cy="1920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6"/>
          <p:cNvSpPr/>
          <p:nvPr/>
        </p:nvSpPr>
        <p:spPr>
          <a:xfrm>
            <a:off x="6080760" y="1719072"/>
            <a:ext cx="2514600" cy="36576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6190488" y="1828800"/>
            <a:ext cx="2295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do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</a:t>
            </a:r>
            <a:r>
              <a:rPr lang="fr-FR" sz="1000" i="1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afraid</a:t>
            </a:r>
            <a:r>
              <a:rPr lang="fr-FR" sz="1000" i="1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do."</a:t>
            </a:r>
            <a:endParaRPr lang="fr-FR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6190488" y="283464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Ralph Waldo Emerson</a:t>
            </a:r>
            <a:endParaRPr lang="fr-FR" sz="1000" noProof="0" dirty="0"/>
          </a:p>
        </p:txBody>
      </p:sp>
      <p:sp>
        <p:nvSpPr>
          <p:cNvPr id="31" name="Text 29"/>
          <p:cNvSpPr/>
          <p:nvPr/>
        </p:nvSpPr>
        <p:spPr>
          <a:xfrm>
            <a:off x="6190488" y="3108960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2026-04-30</a:t>
            </a:r>
            <a:endParaRPr lang="fr-FR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26517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2651760" cy="27432"/>
          </a:xfrm>
          <a:prstGeom prst="rect">
            <a:avLst/>
          </a:prstGeom>
          <a:solidFill>
            <a:srgbClr val="00B8D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32"/>
          <p:cNvSpPr/>
          <p:nvPr/>
        </p:nvSpPr>
        <p:spPr>
          <a:xfrm>
            <a:off x="621792" y="3843492"/>
            <a:ext cx="384048" cy="384048"/>
          </a:xfrm>
          <a:prstGeom prst="ellipse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22596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66928" y="42439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Card </a:t>
            </a:r>
            <a:r>
              <a:rPr lang="fr-FR" sz="1100" b="1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fr-FR" sz="1100" noProof="0" dirty="0"/>
          </a:p>
        </p:txBody>
      </p:sp>
      <p:sp>
        <p:nvSpPr>
          <p:cNvPr id="37" name="Text 34"/>
          <p:cNvSpPr/>
          <p:nvPr/>
        </p:nvSpPr>
        <p:spPr>
          <a:xfrm>
            <a:off x="566928" y="4618676"/>
            <a:ext cx="2432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moderne avec cartes, ombres et typographie soignée</a:t>
            </a:r>
            <a:endParaRPr lang="fr-FR" sz="950" noProof="0" dirty="0"/>
          </a:p>
        </p:txBody>
      </p:sp>
      <p:sp>
        <p:nvSpPr>
          <p:cNvPr id="38" name="Shape 35"/>
          <p:cNvSpPr/>
          <p:nvPr/>
        </p:nvSpPr>
        <p:spPr>
          <a:xfrm>
            <a:off x="3264408" y="3840480"/>
            <a:ext cx="26517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Shape 36"/>
          <p:cNvSpPr/>
          <p:nvPr/>
        </p:nvSpPr>
        <p:spPr>
          <a:xfrm>
            <a:off x="3264408" y="3840480"/>
            <a:ext cx="2651760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7"/>
          <p:cNvSpPr/>
          <p:nvPr/>
        </p:nvSpPr>
        <p:spPr>
          <a:xfrm>
            <a:off x="3429000" y="3843492"/>
            <a:ext cx="384048" cy="384048"/>
          </a:xfrm>
          <a:prstGeom prst="ellipse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3922596"/>
            <a:ext cx="310896" cy="310896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3374136" y="42439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Auto-généré</a:t>
            </a:r>
            <a:endParaRPr lang="fr-FR" sz="1100" noProof="0" dirty="0"/>
          </a:p>
        </p:txBody>
      </p:sp>
      <p:sp>
        <p:nvSpPr>
          <p:cNvPr id="43" name="Text 39"/>
          <p:cNvSpPr/>
          <p:nvPr/>
        </p:nvSpPr>
        <p:spPr>
          <a:xfrm>
            <a:off x="3374136" y="4618676"/>
            <a:ext cx="2432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produit dynamiquement depuis le </a:t>
            </a:r>
            <a:r>
              <a:rPr lang="fr-FR" sz="95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r>
              <a:rPr lang="fr-FR" sz="95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l'historique JSON</a:t>
            </a:r>
            <a:endParaRPr lang="fr-FR" sz="950" noProof="0" dirty="0"/>
          </a:p>
        </p:txBody>
      </p:sp>
      <p:sp>
        <p:nvSpPr>
          <p:cNvPr id="44" name="Shape 40"/>
          <p:cNvSpPr/>
          <p:nvPr/>
        </p:nvSpPr>
        <p:spPr>
          <a:xfrm>
            <a:off x="6071616" y="3840480"/>
            <a:ext cx="26517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blurRad="1270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Shape 41"/>
          <p:cNvSpPr/>
          <p:nvPr/>
        </p:nvSpPr>
        <p:spPr>
          <a:xfrm>
            <a:off x="6071616" y="3840480"/>
            <a:ext cx="2651760" cy="27432"/>
          </a:xfrm>
          <a:prstGeom prst="rect">
            <a:avLst/>
          </a:prstGeom>
          <a:solidFill>
            <a:srgbClr val="7C5CF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Shape 42"/>
          <p:cNvSpPr/>
          <p:nvPr/>
        </p:nvSpPr>
        <p:spPr>
          <a:xfrm>
            <a:off x="6236208" y="3843492"/>
            <a:ext cx="384048" cy="384048"/>
          </a:xfrm>
          <a:prstGeom prst="ellipse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3922596"/>
            <a:ext cx="310896" cy="310896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181344" y="42439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</a:t>
            </a:r>
            <a:endParaRPr lang="fr-FR" sz="1100" noProof="0" dirty="0"/>
          </a:p>
        </p:txBody>
      </p:sp>
      <p:sp>
        <p:nvSpPr>
          <p:cNvPr id="49" name="Text 44"/>
          <p:cNvSpPr/>
          <p:nvPr/>
        </p:nvSpPr>
        <p:spPr>
          <a:xfrm>
            <a:off x="6181344" y="4618676"/>
            <a:ext cx="24323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citations avec date et auteur</a:t>
            </a:r>
            <a:endParaRPr lang="fr-FR" sz="95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PARTIE 5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Principal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2688336" y="347472"/>
            <a:ext cx="5998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Interactif</a:t>
            </a:r>
            <a:endParaRPr lang="fr-F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motd_manager.sh — Menu orchestrant l'ensemble des fonctionnalités</a:t>
            </a:r>
            <a:endParaRPr lang="fr-FR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1298448"/>
            <a:ext cx="4114800" cy="352044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6304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1463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MOTD Manager v1.0</a:t>
            </a:r>
            <a:endParaRPr lang="fr-FR" sz="1300" noProof="0" dirty="0"/>
          </a:p>
        </p:txBody>
      </p:sp>
      <p:sp>
        <p:nvSpPr>
          <p:cNvPr id="14" name="Shape 11"/>
          <p:cNvSpPr/>
          <p:nvPr/>
        </p:nvSpPr>
        <p:spPr>
          <a:xfrm>
            <a:off x="594360" y="1828800"/>
            <a:ext cx="384048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2"/>
          <p:cNvSpPr/>
          <p:nvPr/>
        </p:nvSpPr>
        <p:spPr>
          <a:xfrm>
            <a:off x="594360" y="1965960"/>
            <a:ext cx="3840480" cy="3840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3"/>
          <p:cNvSpPr/>
          <p:nvPr/>
        </p:nvSpPr>
        <p:spPr>
          <a:xfrm>
            <a:off x="594360" y="1965960"/>
            <a:ext cx="347472" cy="384048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4"/>
          <p:cNvSpPr/>
          <p:nvPr/>
        </p:nvSpPr>
        <p:spPr>
          <a:xfrm>
            <a:off x="594360" y="202082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fr-FR" sz="1300" noProof="0" dirty="0"/>
          </a:p>
        </p:txBody>
      </p:sp>
      <p:sp>
        <p:nvSpPr>
          <p:cNvPr id="18" name="Text 15"/>
          <p:cNvSpPr/>
          <p:nvPr/>
        </p:nvSpPr>
        <p:spPr>
          <a:xfrm>
            <a:off x="1024128" y="2039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la source (CRUD)</a:t>
            </a:r>
            <a:endParaRPr lang="fr-FR" sz="1200" noProof="0" dirty="0"/>
          </a:p>
        </p:txBody>
      </p:sp>
      <p:sp>
        <p:nvSpPr>
          <p:cNvPr id="19" name="Shape 16"/>
          <p:cNvSpPr/>
          <p:nvPr/>
        </p:nvSpPr>
        <p:spPr>
          <a:xfrm>
            <a:off x="594360" y="2441448"/>
            <a:ext cx="3840480" cy="3840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7"/>
          <p:cNvSpPr/>
          <p:nvPr/>
        </p:nvSpPr>
        <p:spPr>
          <a:xfrm>
            <a:off x="594360" y="2441448"/>
            <a:ext cx="347472" cy="384048"/>
          </a:xfrm>
          <a:prstGeom prst="rect">
            <a:avLst/>
          </a:prstGeom>
          <a:solidFill>
            <a:srgbClr val="00B8D4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8"/>
          <p:cNvSpPr/>
          <p:nvPr/>
        </p:nvSpPr>
        <p:spPr>
          <a:xfrm>
            <a:off x="594360" y="249631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0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fr-FR" sz="1300" noProof="0" dirty="0"/>
          </a:p>
        </p:txBody>
      </p:sp>
      <p:sp>
        <p:nvSpPr>
          <p:cNvPr id="22" name="Text 19"/>
          <p:cNvSpPr/>
          <p:nvPr/>
        </p:nvSpPr>
        <p:spPr>
          <a:xfrm>
            <a:off x="1024128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une nouvelle citation</a:t>
            </a:r>
            <a:endParaRPr lang="fr-FR" sz="1200" noProof="0" dirty="0"/>
          </a:p>
        </p:txBody>
      </p:sp>
      <p:sp>
        <p:nvSpPr>
          <p:cNvPr id="23" name="Shape 20"/>
          <p:cNvSpPr/>
          <p:nvPr/>
        </p:nvSpPr>
        <p:spPr>
          <a:xfrm>
            <a:off x="594360" y="2916936"/>
            <a:ext cx="3840480" cy="3840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1"/>
          <p:cNvSpPr/>
          <p:nvPr/>
        </p:nvSpPr>
        <p:spPr>
          <a:xfrm>
            <a:off x="594360" y="2916936"/>
            <a:ext cx="347472" cy="384048"/>
          </a:xfrm>
          <a:prstGeom prst="rect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Text 22"/>
          <p:cNvSpPr/>
          <p:nvPr/>
        </p:nvSpPr>
        <p:spPr>
          <a:xfrm>
            <a:off x="594360" y="297180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fr-FR" sz="1300" noProof="0" dirty="0"/>
          </a:p>
        </p:txBody>
      </p:sp>
      <p:sp>
        <p:nvSpPr>
          <p:cNvPr id="26" name="Text 23"/>
          <p:cNvSpPr/>
          <p:nvPr/>
        </p:nvSpPr>
        <p:spPr>
          <a:xfrm>
            <a:off x="1024128" y="29900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le MOTD (</a:t>
            </a:r>
            <a:r>
              <a:rPr lang="fr-FR" sz="12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</a:t>
            </a:r>
            <a:r>
              <a:rPr lang="fr-FR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1200" noProof="0" dirty="0"/>
          </a:p>
        </p:txBody>
      </p:sp>
      <p:sp>
        <p:nvSpPr>
          <p:cNvPr id="27" name="Shape 24"/>
          <p:cNvSpPr/>
          <p:nvPr/>
        </p:nvSpPr>
        <p:spPr>
          <a:xfrm>
            <a:off x="594360" y="3392424"/>
            <a:ext cx="3840480" cy="3840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25"/>
          <p:cNvSpPr/>
          <p:nvPr/>
        </p:nvSpPr>
        <p:spPr>
          <a:xfrm>
            <a:off x="594360" y="3392424"/>
            <a:ext cx="347472" cy="384048"/>
          </a:xfrm>
          <a:prstGeom prst="rect">
            <a:avLst/>
          </a:prstGeom>
          <a:solidFill>
            <a:srgbClr val="7C5CFC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6"/>
          <p:cNvSpPr/>
          <p:nvPr/>
        </p:nvSpPr>
        <p:spPr>
          <a:xfrm>
            <a:off x="594360" y="344728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fr-FR" sz="1300" noProof="0" dirty="0"/>
          </a:p>
        </p:txBody>
      </p:sp>
      <p:sp>
        <p:nvSpPr>
          <p:cNvPr id="30" name="Text 27"/>
          <p:cNvSpPr/>
          <p:nvPr/>
        </p:nvSpPr>
        <p:spPr>
          <a:xfrm>
            <a:off x="1024128" y="3465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le </a:t>
            </a:r>
            <a:r>
              <a:rPr lang="fr-FR" sz="1200" noProof="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fr-FR" sz="1200" noProof="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HTML</a:t>
            </a:r>
            <a:endParaRPr lang="fr-FR" sz="1200" noProof="0" dirty="0"/>
          </a:p>
        </p:txBody>
      </p:sp>
      <p:sp>
        <p:nvSpPr>
          <p:cNvPr id="31" name="Shape 28"/>
          <p:cNvSpPr/>
          <p:nvPr/>
        </p:nvSpPr>
        <p:spPr>
          <a:xfrm>
            <a:off x="594360" y="3867912"/>
            <a:ext cx="3840480" cy="384048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9"/>
          <p:cNvSpPr/>
          <p:nvPr/>
        </p:nvSpPr>
        <p:spPr>
          <a:xfrm>
            <a:off x="594360" y="3867912"/>
            <a:ext cx="347472" cy="384048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0"/>
          <p:cNvSpPr/>
          <p:nvPr/>
        </p:nvSpPr>
        <p:spPr>
          <a:xfrm>
            <a:off x="594360" y="392277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fr-FR" sz="1300" noProof="0" dirty="0"/>
          </a:p>
        </p:txBody>
      </p:sp>
      <p:sp>
        <p:nvSpPr>
          <p:cNvPr id="34" name="Text 31"/>
          <p:cNvSpPr/>
          <p:nvPr/>
        </p:nvSpPr>
        <p:spPr>
          <a:xfrm>
            <a:off x="1024128" y="394106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Quitter</a:t>
            </a:r>
            <a:endParaRPr lang="fr-FR" sz="1200" noProof="0" dirty="0"/>
          </a:p>
        </p:txBody>
      </p:sp>
      <p:sp>
        <p:nvSpPr>
          <p:cNvPr id="35" name="Text 32"/>
          <p:cNvSpPr/>
          <p:nvPr/>
        </p:nvSpPr>
        <p:spPr>
          <a:xfrm>
            <a:off x="59436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00E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Votre choix : _</a:t>
            </a:r>
            <a:endParaRPr lang="fr-FR" sz="1100" noProof="0" dirty="0"/>
          </a:p>
        </p:txBody>
      </p:sp>
      <p:sp>
        <p:nvSpPr>
          <p:cNvPr id="36" name="Shape 33"/>
          <p:cNvSpPr/>
          <p:nvPr/>
        </p:nvSpPr>
        <p:spPr>
          <a:xfrm>
            <a:off x="4754880" y="1298448"/>
            <a:ext cx="411480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17320"/>
            <a:ext cx="274320" cy="274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239512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</a:t>
            </a:r>
            <a:endParaRPr lang="fr-FR" sz="1300" noProof="0" dirty="0"/>
          </a:p>
        </p:txBody>
      </p:sp>
      <p:sp>
        <p:nvSpPr>
          <p:cNvPr id="39" name="Shape 35"/>
          <p:cNvSpPr/>
          <p:nvPr/>
        </p:nvSpPr>
        <p:spPr>
          <a:xfrm>
            <a:off x="4892040" y="1755648"/>
            <a:ext cx="384048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6"/>
          <p:cNvSpPr/>
          <p:nvPr/>
        </p:nvSpPr>
        <p:spPr>
          <a:xfrm>
            <a:off x="4892040" y="18470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option appelle le script dédié correspondant. Le menu fonctionne comme un orchestrateur qui source les fonctions des 4 autres scripts pour offrir une expérience unifiée.</a:t>
            </a:r>
            <a:endParaRPr lang="fr-FR" sz="1100" noProof="0" dirty="0"/>
          </a:p>
        </p:txBody>
      </p:sp>
      <p:sp>
        <p:nvSpPr>
          <p:cNvPr id="41" name="Shape 37"/>
          <p:cNvSpPr/>
          <p:nvPr/>
        </p:nvSpPr>
        <p:spPr>
          <a:xfrm>
            <a:off x="4754880" y="2990088"/>
            <a:ext cx="1298448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38"/>
          <p:cNvSpPr/>
          <p:nvPr/>
        </p:nvSpPr>
        <p:spPr>
          <a:xfrm>
            <a:off x="4754880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3200" noProof="0" dirty="0"/>
          </a:p>
        </p:txBody>
      </p:sp>
      <p:sp>
        <p:nvSpPr>
          <p:cNvPr id="43" name="Text 39"/>
          <p:cNvSpPr/>
          <p:nvPr/>
        </p:nvSpPr>
        <p:spPr>
          <a:xfrm>
            <a:off x="4754880" y="35844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fr-FR" sz="900" noProof="0" dirty="0"/>
          </a:p>
        </p:txBody>
      </p:sp>
      <p:sp>
        <p:nvSpPr>
          <p:cNvPr id="44" name="Shape 40"/>
          <p:cNvSpPr/>
          <p:nvPr/>
        </p:nvSpPr>
        <p:spPr>
          <a:xfrm>
            <a:off x="6172200" y="2990088"/>
            <a:ext cx="1298448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1"/>
          <p:cNvSpPr/>
          <p:nvPr/>
        </p:nvSpPr>
        <p:spPr>
          <a:xfrm>
            <a:off x="6172200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3200" noProof="0" dirty="0"/>
          </a:p>
        </p:txBody>
      </p:sp>
      <p:sp>
        <p:nvSpPr>
          <p:cNvPr id="46" name="Text 42"/>
          <p:cNvSpPr/>
          <p:nvPr/>
        </p:nvSpPr>
        <p:spPr>
          <a:xfrm>
            <a:off x="6172200" y="35844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fr-FR" sz="900" noProof="0" dirty="0"/>
          </a:p>
        </p:txBody>
      </p:sp>
      <p:sp>
        <p:nvSpPr>
          <p:cNvPr id="47" name="Shape 43"/>
          <p:cNvSpPr/>
          <p:nvPr/>
        </p:nvSpPr>
        <p:spPr>
          <a:xfrm>
            <a:off x="7589520" y="2990088"/>
            <a:ext cx="1298448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4"/>
          <p:cNvSpPr/>
          <p:nvPr/>
        </p:nvSpPr>
        <p:spPr>
          <a:xfrm>
            <a:off x="7589520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3200" noProof="0" dirty="0"/>
          </a:p>
        </p:txBody>
      </p:sp>
      <p:sp>
        <p:nvSpPr>
          <p:cNvPr id="49" name="Text 45"/>
          <p:cNvSpPr/>
          <p:nvPr/>
        </p:nvSpPr>
        <p:spPr>
          <a:xfrm>
            <a:off x="7589520" y="35844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kern="0" spc="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</a:t>
            </a:r>
            <a:endParaRPr lang="fr-FR" sz="9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66275B-4C86-5E28-166D-7B4359908508}"/>
              </a:ext>
            </a:extLst>
          </p:cNvPr>
          <p:cNvSpPr txBox="1"/>
          <p:nvPr/>
        </p:nvSpPr>
        <p:spPr>
          <a:xfrm>
            <a:off x="1816478" y="4336009"/>
            <a:ext cx="164592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fr-FR" sz="1400" b="1" i="0" noProof="0" dirty="0">
                <a:solidFill>
                  <a:srgbClr val="00FF88"/>
                </a:solidFill>
                <a:latin typeface="Consolas"/>
              </a:rPr>
              <a:t>█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dur="90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D'ENSEMBLE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1325880" y="347472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endParaRPr lang="fr-FR" sz="2600" noProof="0" dirty="0"/>
          </a:p>
        </p:txBody>
      </p:sp>
      <p:sp>
        <p:nvSpPr>
          <p:cNvPr id="10" name="Text 8"/>
          <p:cNvSpPr/>
          <p:nvPr/>
        </p:nvSpPr>
        <p:spPr>
          <a:xfrm>
            <a:off x="2971800" y="347472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système</a:t>
            </a:r>
            <a:endParaRPr lang="fr-FR" sz="2600" noProof="0" dirty="0"/>
          </a:p>
        </p:txBody>
      </p:sp>
      <p:sp>
        <p:nvSpPr>
          <p:cNvPr id="11" name="Shape 9"/>
          <p:cNvSpPr/>
          <p:nvPr/>
        </p:nvSpPr>
        <p:spPr>
          <a:xfrm>
            <a:off x="822960" y="1078992"/>
            <a:ext cx="23774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987552" y="1261872"/>
            <a:ext cx="411480" cy="411480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298448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81328" y="12161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manage_config.sh</a:t>
            </a:r>
            <a:endParaRPr lang="fr-FR" sz="1050" noProof="0" dirty="0"/>
          </a:p>
        </p:txBody>
      </p:sp>
      <p:sp>
        <p:nvSpPr>
          <p:cNvPr id="15" name="Text 12"/>
          <p:cNvSpPr/>
          <p:nvPr/>
        </p:nvSpPr>
        <p:spPr>
          <a:xfrm>
            <a:off x="1481328" y="15361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</a:t>
            </a:r>
            <a:endParaRPr lang="fr-FR" sz="1000" noProof="0" dirty="0"/>
          </a:p>
        </p:txBody>
      </p:sp>
      <p:sp>
        <p:nvSpPr>
          <p:cNvPr id="16" name="Shape 13"/>
          <p:cNvSpPr/>
          <p:nvPr/>
        </p:nvSpPr>
        <p:spPr>
          <a:xfrm>
            <a:off x="3236976" y="1481328"/>
            <a:ext cx="292608" cy="4572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4"/>
          <p:cNvSpPr/>
          <p:nvPr/>
        </p:nvSpPr>
        <p:spPr>
          <a:xfrm>
            <a:off x="3442716" y="13578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600" noProof="0" dirty="0"/>
          </a:p>
        </p:txBody>
      </p:sp>
      <p:sp>
        <p:nvSpPr>
          <p:cNvPr id="18" name="Shape 15"/>
          <p:cNvSpPr/>
          <p:nvPr/>
        </p:nvSpPr>
        <p:spPr>
          <a:xfrm>
            <a:off x="3566160" y="1078992"/>
            <a:ext cx="23774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6"/>
          <p:cNvSpPr/>
          <p:nvPr/>
        </p:nvSpPr>
        <p:spPr>
          <a:xfrm>
            <a:off x="3730752" y="1261872"/>
            <a:ext cx="411480" cy="411480"/>
          </a:xfrm>
          <a:prstGeom prst="ellipse">
            <a:avLst/>
          </a:prstGeom>
          <a:solidFill>
            <a:srgbClr val="00B8D4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1298448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224528" y="12161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fetch_quote.sh</a:t>
            </a:r>
            <a:endParaRPr lang="fr-FR" sz="1050" noProof="0" dirty="0"/>
          </a:p>
        </p:txBody>
      </p:sp>
      <p:sp>
        <p:nvSpPr>
          <p:cNvPr id="22" name="Text 18"/>
          <p:cNvSpPr/>
          <p:nvPr/>
        </p:nvSpPr>
        <p:spPr>
          <a:xfrm>
            <a:off x="4224528" y="15361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fr-FR" sz="10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fr-FR" sz="1000" noProof="0" dirty="0"/>
          </a:p>
        </p:txBody>
      </p:sp>
      <p:sp>
        <p:nvSpPr>
          <p:cNvPr id="23" name="Shape 19"/>
          <p:cNvSpPr/>
          <p:nvPr/>
        </p:nvSpPr>
        <p:spPr>
          <a:xfrm>
            <a:off x="5980176" y="1481328"/>
            <a:ext cx="292608" cy="4572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0"/>
          <p:cNvSpPr/>
          <p:nvPr/>
        </p:nvSpPr>
        <p:spPr>
          <a:xfrm>
            <a:off x="6185916" y="13578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600" noProof="0" dirty="0"/>
          </a:p>
        </p:txBody>
      </p:sp>
      <p:sp>
        <p:nvSpPr>
          <p:cNvPr id="25" name="Shape 21"/>
          <p:cNvSpPr/>
          <p:nvPr/>
        </p:nvSpPr>
        <p:spPr>
          <a:xfrm>
            <a:off x="6309360" y="1078992"/>
            <a:ext cx="23774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22"/>
          <p:cNvSpPr/>
          <p:nvPr/>
        </p:nvSpPr>
        <p:spPr>
          <a:xfrm>
            <a:off x="6473952" y="1261872"/>
            <a:ext cx="411480" cy="411480"/>
          </a:xfrm>
          <a:prstGeom prst="ellipse">
            <a:avLst/>
          </a:prstGeom>
          <a:solidFill>
            <a:srgbClr val="7C5CFC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298448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67728" y="121615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 err="1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quotes_history.json</a:t>
            </a:r>
            <a:endParaRPr lang="fr-FR" sz="1050" noProof="0" dirty="0"/>
          </a:p>
        </p:txBody>
      </p:sp>
      <p:sp>
        <p:nvSpPr>
          <p:cNvPr id="29" name="Text 24"/>
          <p:cNvSpPr/>
          <p:nvPr/>
        </p:nvSpPr>
        <p:spPr>
          <a:xfrm>
            <a:off x="6967728" y="15361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fr-FR" sz="1000" noProof="0" dirty="0"/>
          </a:p>
        </p:txBody>
      </p:sp>
      <p:sp>
        <p:nvSpPr>
          <p:cNvPr id="30" name="Shape 25"/>
          <p:cNvSpPr/>
          <p:nvPr/>
        </p:nvSpPr>
        <p:spPr>
          <a:xfrm>
            <a:off x="4544568" y="2029968"/>
            <a:ext cx="45720" cy="45720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6"/>
          <p:cNvSpPr/>
          <p:nvPr/>
        </p:nvSpPr>
        <p:spPr>
          <a:xfrm>
            <a:off x="4407408" y="22997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fr-FR" sz="1400" noProof="0" dirty="0"/>
          </a:p>
        </p:txBody>
      </p:sp>
      <p:sp>
        <p:nvSpPr>
          <p:cNvPr id="32" name="Shape 27"/>
          <p:cNvSpPr/>
          <p:nvPr/>
        </p:nvSpPr>
        <p:spPr>
          <a:xfrm>
            <a:off x="1463040" y="2816352"/>
            <a:ext cx="274320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28"/>
          <p:cNvSpPr/>
          <p:nvPr/>
        </p:nvSpPr>
        <p:spPr>
          <a:xfrm>
            <a:off x="1627632" y="2999232"/>
            <a:ext cx="411480" cy="4114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064" y="3035808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121408" y="295351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update_motd.sh</a:t>
            </a:r>
            <a:endParaRPr lang="fr-FR" sz="1050" noProof="0" dirty="0"/>
          </a:p>
        </p:txBody>
      </p:sp>
      <p:sp>
        <p:nvSpPr>
          <p:cNvPr id="36" name="Text 30"/>
          <p:cNvSpPr/>
          <p:nvPr/>
        </p:nvSpPr>
        <p:spPr>
          <a:xfrm>
            <a:off x="2121408" y="32735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+ /</a:t>
            </a:r>
            <a:r>
              <a:rPr lang="fr-FR" sz="10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10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motd</a:t>
            </a:r>
            <a:endParaRPr lang="fr-FR" sz="1000" noProof="0" dirty="0"/>
          </a:p>
        </p:txBody>
      </p:sp>
      <p:sp>
        <p:nvSpPr>
          <p:cNvPr id="37" name="Shape 31"/>
          <p:cNvSpPr/>
          <p:nvPr/>
        </p:nvSpPr>
        <p:spPr>
          <a:xfrm>
            <a:off x="4242816" y="3218688"/>
            <a:ext cx="384048" cy="4572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2"/>
          <p:cNvSpPr/>
          <p:nvPr/>
        </p:nvSpPr>
        <p:spPr>
          <a:xfrm>
            <a:off x="4537879" y="3094736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fr-FR" sz="1600" noProof="0" dirty="0"/>
          </a:p>
        </p:txBody>
      </p:sp>
      <p:sp>
        <p:nvSpPr>
          <p:cNvPr id="39" name="Shape 33"/>
          <p:cNvSpPr/>
          <p:nvPr/>
        </p:nvSpPr>
        <p:spPr>
          <a:xfrm>
            <a:off x="4663440" y="2816352"/>
            <a:ext cx="274320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00BAD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34"/>
          <p:cNvSpPr/>
          <p:nvPr/>
        </p:nvSpPr>
        <p:spPr>
          <a:xfrm>
            <a:off x="4828032" y="2999232"/>
            <a:ext cx="411480" cy="411480"/>
          </a:xfrm>
          <a:prstGeom prst="ellipse">
            <a:avLst/>
          </a:prstGeom>
          <a:solidFill>
            <a:srgbClr val="00E5A0">
              <a:alpha val="15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3035808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321808" y="295351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generate_dashboard.sh</a:t>
            </a:r>
            <a:endParaRPr lang="fr-FR" sz="1050" noProof="0" dirty="0"/>
          </a:p>
        </p:txBody>
      </p:sp>
      <p:sp>
        <p:nvSpPr>
          <p:cNvPr id="43" name="Text 36"/>
          <p:cNvSpPr/>
          <p:nvPr/>
        </p:nvSpPr>
        <p:spPr>
          <a:xfrm>
            <a:off x="5321808" y="32735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</a:t>
            </a:r>
            <a:r>
              <a:rPr lang="fr-FR" sz="10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fr-FR" sz="1000" noProof="0" dirty="0"/>
          </a:p>
        </p:txBody>
      </p:sp>
      <p:sp>
        <p:nvSpPr>
          <p:cNvPr id="44" name="Shape 37"/>
          <p:cNvSpPr/>
          <p:nvPr/>
        </p:nvSpPr>
        <p:spPr>
          <a:xfrm>
            <a:off x="4544568" y="3767328"/>
            <a:ext cx="45720" cy="36576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38"/>
          <p:cNvSpPr/>
          <p:nvPr/>
        </p:nvSpPr>
        <p:spPr>
          <a:xfrm>
            <a:off x="4407408" y="394563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fr-FR" sz="1400" noProof="0" dirty="0"/>
          </a:p>
        </p:txBody>
      </p:sp>
      <p:sp>
        <p:nvSpPr>
          <p:cNvPr id="46" name="Shape 39"/>
          <p:cNvSpPr/>
          <p:nvPr/>
        </p:nvSpPr>
        <p:spPr>
          <a:xfrm>
            <a:off x="2651760" y="4370832"/>
            <a:ext cx="384048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EA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Shape 40"/>
          <p:cNvSpPr/>
          <p:nvPr/>
        </p:nvSpPr>
        <p:spPr>
          <a:xfrm>
            <a:off x="2651760" y="4370832"/>
            <a:ext cx="3840480" cy="32004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4640" y="4462272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3182112" y="4434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motd_manager.sh</a:t>
            </a:r>
            <a:endParaRPr lang="fr-FR" sz="1200" noProof="0" dirty="0"/>
          </a:p>
        </p:txBody>
      </p:sp>
      <p:sp>
        <p:nvSpPr>
          <p:cNvPr id="50" name="Text 42"/>
          <p:cNvSpPr/>
          <p:nvPr/>
        </p:nvSpPr>
        <p:spPr>
          <a:xfrm>
            <a:off x="5047488" y="44622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b="1" kern="0" spc="50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ORCHESTRATEUR PRINCIPAL</a:t>
            </a:r>
            <a:endParaRPr lang="fr-FR" sz="85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fr-FR" sz="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164592"/>
            <a:ext cx="201168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91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kern="0" spc="2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RETOUR D'EXPÉRIENCE</a:t>
            </a:r>
            <a:endParaRPr lang="fr-F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2468880" y="34747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fr-FR" sz="2600" noProof="0" dirty="0"/>
          </a:p>
        </p:txBody>
      </p:sp>
      <p:sp>
        <p:nvSpPr>
          <p:cNvPr id="10" name="Shape 8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365760" y="1307592"/>
            <a:ext cx="8412480" cy="2743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50292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</a:t>
            </a:r>
            <a:endParaRPr lang="fr-F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3200400" y="1024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fr-FR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4251960" y="10241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mise en </a:t>
            </a:r>
            <a:r>
              <a:rPr lang="fr-FR" sz="1100" b="1" noProof="0" dirty="0" err="1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oeuvre</a:t>
            </a:r>
            <a:endParaRPr lang="fr-FR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1389888"/>
            <a:ext cx="8412480" cy="603504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502920" y="14813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 hétérogène selon l'API</a:t>
            </a:r>
            <a:endParaRPr lang="fr-FR" sz="1050" noProof="0" dirty="0"/>
          </a:p>
        </p:txBody>
      </p:sp>
      <p:sp>
        <p:nvSpPr>
          <p:cNvPr id="17" name="Shape 15"/>
          <p:cNvSpPr/>
          <p:nvPr/>
        </p:nvSpPr>
        <p:spPr>
          <a:xfrm>
            <a:off x="3218688" y="1536192"/>
            <a:ext cx="822960" cy="256032"/>
          </a:xfrm>
          <a:prstGeom prst="rect">
            <a:avLst/>
          </a:prstGeom>
          <a:solidFill>
            <a:srgbClr val="00E5A0">
              <a:alpha val="12000"/>
            </a:srgbClr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3218688" y="15361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fr-FR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425196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</a:t>
            </a:r>
            <a:r>
              <a:rPr lang="fr-FR" sz="1000" noProof="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adaptés à chaque API avec mapping des structures de réponse dans la configuration</a:t>
            </a:r>
            <a:endParaRPr lang="fr-FR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2048256"/>
            <a:ext cx="8412480" cy="60350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502920" y="21396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root pour écrire dans /</a:t>
            </a:r>
            <a:r>
              <a:rPr lang="fr-FR" sz="1050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r>
              <a:rPr lang="fr-FR" sz="1050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1050" noProof="0" dirty="0" err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motd</a:t>
            </a:r>
            <a:endParaRPr lang="fr-FR" sz="1050" noProof="0" dirty="0"/>
          </a:p>
        </p:txBody>
      </p:sp>
      <p:sp>
        <p:nvSpPr>
          <p:cNvPr id="22" name="Shape 20"/>
          <p:cNvSpPr/>
          <p:nvPr/>
        </p:nvSpPr>
        <p:spPr>
          <a:xfrm>
            <a:off x="3218688" y="2194560"/>
            <a:ext cx="822960" cy="256032"/>
          </a:xfrm>
          <a:prstGeom prst="rect">
            <a:avLst/>
          </a:prstGeom>
          <a:solidFill>
            <a:srgbClr val="00E5A0">
              <a:alpha val="12000"/>
            </a:srgbClr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3218688" y="2194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fr-F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4251960" y="2121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</a:t>
            </a:r>
            <a:r>
              <a:rPr lang="fr-FR" sz="1000" noProof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$(id -u) 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root → injection ; sinon, affichage console avec avertissement</a:t>
            </a:r>
            <a:endParaRPr lang="fr-FR" sz="1000" noProof="0" dirty="0"/>
          </a:p>
        </p:txBody>
      </p:sp>
      <p:sp>
        <p:nvSpPr>
          <p:cNvPr id="25" name="Shape 23"/>
          <p:cNvSpPr/>
          <p:nvPr/>
        </p:nvSpPr>
        <p:spPr>
          <a:xfrm>
            <a:off x="365760" y="2706624"/>
            <a:ext cx="8412480" cy="603504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502920" y="279806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d'accès au fichier historique</a:t>
            </a:r>
            <a:endParaRPr lang="fr-FR" sz="1050" noProof="0" dirty="0"/>
          </a:p>
        </p:txBody>
      </p:sp>
      <p:sp>
        <p:nvSpPr>
          <p:cNvPr id="27" name="Shape 25"/>
          <p:cNvSpPr/>
          <p:nvPr/>
        </p:nvSpPr>
        <p:spPr>
          <a:xfrm>
            <a:off x="3218688" y="2852928"/>
            <a:ext cx="822960" cy="256032"/>
          </a:xfrm>
          <a:prstGeom prst="rect">
            <a:avLst/>
          </a:prstGeom>
          <a:solidFill>
            <a:srgbClr val="00E5A0">
              <a:alpha val="12000"/>
            </a:srgbClr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3218688" y="2852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fr-FR" sz="900" noProof="0" dirty="0"/>
          </a:p>
        </p:txBody>
      </p:sp>
      <p:sp>
        <p:nvSpPr>
          <p:cNvPr id="29" name="Text 27"/>
          <p:cNvSpPr/>
          <p:nvPr/>
        </p:nvSpPr>
        <p:spPr>
          <a:xfrm>
            <a:off x="4251960" y="27797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 </a:t>
            </a:r>
            <a:r>
              <a:rPr lang="fr-FR" sz="1000" noProof="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flock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verrouiller le fichier JSON pendant les opérations d'écriture</a:t>
            </a:r>
            <a:endParaRPr lang="fr-FR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365760" y="3364992"/>
            <a:ext cx="8412480" cy="603504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502920" y="34564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HTML dynamique depuis Bash</a:t>
            </a:r>
            <a:endParaRPr lang="fr-FR" sz="1050" noProof="0" dirty="0"/>
          </a:p>
        </p:txBody>
      </p:sp>
      <p:sp>
        <p:nvSpPr>
          <p:cNvPr id="32" name="Shape 30"/>
          <p:cNvSpPr/>
          <p:nvPr/>
        </p:nvSpPr>
        <p:spPr>
          <a:xfrm>
            <a:off x="3218688" y="3511296"/>
            <a:ext cx="822960" cy="256032"/>
          </a:xfrm>
          <a:prstGeom prst="rect">
            <a:avLst/>
          </a:prstGeom>
          <a:solidFill>
            <a:srgbClr val="00E5A0">
              <a:alpha val="12000"/>
            </a:srgbClr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1"/>
          <p:cNvSpPr/>
          <p:nvPr/>
        </p:nvSpPr>
        <p:spPr>
          <a:xfrm>
            <a:off x="3218688" y="3511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fr-FR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4251960" y="34381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</a:t>
            </a:r>
            <a:r>
              <a:rPr lang="fr-FR" sz="1000" noProof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fr-FR" sz="1000" noProof="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</a:t>
            </a:r>
            <a:r>
              <a:rPr lang="fr-FR" sz="1000" noProof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substitution de variables via </a:t>
            </a:r>
            <a:r>
              <a:rPr lang="fr-FR" sz="1000" noProof="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envsubst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séparer logique et présentation</a:t>
            </a:r>
            <a:endParaRPr lang="fr-FR" sz="1000" noProof="0" dirty="0"/>
          </a:p>
        </p:txBody>
      </p:sp>
      <p:sp>
        <p:nvSpPr>
          <p:cNvPr id="35" name="Shape 33"/>
          <p:cNvSpPr/>
          <p:nvPr/>
        </p:nvSpPr>
        <p:spPr>
          <a:xfrm>
            <a:off x="365760" y="4023360"/>
            <a:ext cx="8412480" cy="603504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6" name="Text 34"/>
          <p:cNvSpPr/>
          <p:nvPr/>
        </p:nvSpPr>
        <p:spPr>
          <a:xfrm>
            <a:off x="502920" y="41148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des API externes</a:t>
            </a:r>
            <a:endParaRPr lang="fr-FR" sz="1050" noProof="0" dirty="0"/>
          </a:p>
        </p:txBody>
      </p:sp>
      <p:sp>
        <p:nvSpPr>
          <p:cNvPr id="37" name="Shape 35"/>
          <p:cNvSpPr/>
          <p:nvPr/>
        </p:nvSpPr>
        <p:spPr>
          <a:xfrm>
            <a:off x="3218688" y="4169664"/>
            <a:ext cx="822960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3218688" y="41696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fr-FR" sz="900" noProof="0" dirty="0"/>
          </a:p>
        </p:txBody>
      </p:sp>
      <p:sp>
        <p:nvSpPr>
          <p:cNvPr id="39" name="Text 37"/>
          <p:cNvSpPr/>
          <p:nvPr/>
        </p:nvSpPr>
        <p:spPr>
          <a:xfrm>
            <a:off x="4251960" y="40965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</a:t>
            </a:r>
            <a:r>
              <a:rPr lang="fr-FR" sz="1000" noProof="0" dirty="0" err="1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r>
              <a:rPr lang="fr-FR" sz="1000" noProof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--max-time 5 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</a:t>
            </a:r>
            <a:r>
              <a:rPr lang="fr-FR" sz="1000" noProof="0" dirty="0" err="1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r>
              <a:rPr lang="fr-FR" sz="10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une citation locale en cas d'échec réseau</a:t>
            </a:r>
            <a:endParaRPr lang="fr-FR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365760" y="4681728"/>
            <a:ext cx="841248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59536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1719072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0" y="2578608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0" y="3438144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0" y="4297680"/>
            <a:ext cx="9144000" cy="457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832104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1664208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2496312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3328416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160520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4992624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5824728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2"/>
          <p:cNvSpPr/>
          <p:nvPr/>
        </p:nvSpPr>
        <p:spPr>
          <a:xfrm>
            <a:off x="6656832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7488936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8321040" y="0"/>
            <a:ext cx="4572" cy="51435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3931920" y="274320"/>
            <a:ext cx="1280160" cy="12801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1440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2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fr-FR" sz="7200" noProof="0" dirty="0"/>
          </a:p>
        </p:txBody>
      </p:sp>
      <p:sp>
        <p:nvSpPr>
          <p:cNvPr id="19" name="Text 16"/>
          <p:cNvSpPr/>
          <p:nvPr/>
        </p:nvSpPr>
        <p:spPr>
          <a:xfrm>
            <a:off x="9144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attention</a:t>
            </a:r>
            <a:endParaRPr lang="fr-FR" sz="1800" noProof="0" dirty="0"/>
          </a:p>
        </p:txBody>
      </p:sp>
      <p:sp>
        <p:nvSpPr>
          <p:cNvPr id="20" name="Shape 17"/>
          <p:cNvSpPr/>
          <p:nvPr/>
        </p:nvSpPr>
        <p:spPr>
          <a:xfrm>
            <a:off x="4114800" y="3127248"/>
            <a:ext cx="914400" cy="36576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19"/>
          <p:cNvSpPr/>
          <p:nvPr/>
        </p:nvSpPr>
        <p:spPr>
          <a:xfrm>
            <a:off x="914400" y="36393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noProof="0" dirty="0">
                <a:solidFill>
                  <a:srgbClr val="7A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16 — Générateur Dynamique de MOTD via API</a:t>
            </a:r>
            <a:endParaRPr lang="fr-FR" sz="1100" noProof="0" dirty="0"/>
          </a:p>
        </p:txBody>
      </p:sp>
      <p:sp>
        <p:nvSpPr>
          <p:cNvPr id="23" name="Shape 20"/>
          <p:cNvSpPr/>
          <p:nvPr/>
        </p:nvSpPr>
        <p:spPr>
          <a:xfrm>
            <a:off x="2496312" y="4069080"/>
            <a:ext cx="914400" cy="292608"/>
          </a:xfrm>
          <a:prstGeom prst="rect">
            <a:avLst/>
          </a:prstGeom>
          <a:solidFill>
            <a:srgbClr val="00E5A0">
              <a:alpha val="12000"/>
            </a:srgbClr>
          </a:solidFill>
          <a:ln w="635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1"/>
          <p:cNvSpPr/>
          <p:nvPr/>
        </p:nvSpPr>
        <p:spPr>
          <a:xfrm>
            <a:off x="2496312" y="4069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fr-FR" sz="1000" noProof="0" dirty="0"/>
          </a:p>
        </p:txBody>
      </p:sp>
      <p:sp>
        <p:nvSpPr>
          <p:cNvPr id="25" name="Shape 22"/>
          <p:cNvSpPr/>
          <p:nvPr/>
        </p:nvSpPr>
        <p:spPr>
          <a:xfrm>
            <a:off x="3575304" y="4069080"/>
            <a:ext cx="914400" cy="292608"/>
          </a:xfrm>
          <a:prstGeom prst="rect">
            <a:avLst/>
          </a:prstGeom>
          <a:solidFill>
            <a:srgbClr val="00B8D4">
              <a:alpha val="12000"/>
            </a:srgbClr>
          </a:solidFill>
          <a:ln w="6350">
            <a:solidFill>
              <a:srgbClr val="00B8D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3"/>
          <p:cNvSpPr/>
          <p:nvPr/>
        </p:nvSpPr>
        <p:spPr>
          <a:xfrm>
            <a:off x="3575304" y="4069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 err="1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fr-FR" sz="1000" noProof="0" dirty="0"/>
          </a:p>
        </p:txBody>
      </p:sp>
      <p:sp>
        <p:nvSpPr>
          <p:cNvPr id="27" name="Shape 24"/>
          <p:cNvSpPr/>
          <p:nvPr/>
        </p:nvSpPr>
        <p:spPr>
          <a:xfrm>
            <a:off x="4654296" y="4069080"/>
            <a:ext cx="914400" cy="292608"/>
          </a:xfrm>
          <a:prstGeom prst="rect">
            <a:avLst/>
          </a:prstGeom>
          <a:solidFill>
            <a:srgbClr val="7C5CFC">
              <a:alpha val="12000"/>
            </a:srgbClr>
          </a:solidFill>
          <a:ln w="6350">
            <a:solidFill>
              <a:srgbClr val="7C5C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5"/>
          <p:cNvSpPr/>
          <p:nvPr/>
        </p:nvSpPr>
        <p:spPr>
          <a:xfrm>
            <a:off x="4654296" y="4069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 err="1">
                <a:solidFill>
                  <a:srgbClr val="7C5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endParaRPr lang="fr-FR" sz="1000" noProof="0" dirty="0"/>
          </a:p>
        </p:txBody>
      </p:sp>
      <p:sp>
        <p:nvSpPr>
          <p:cNvPr id="29" name="Shape 26"/>
          <p:cNvSpPr/>
          <p:nvPr/>
        </p:nvSpPr>
        <p:spPr>
          <a:xfrm>
            <a:off x="5733288" y="4069080"/>
            <a:ext cx="914400" cy="292608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7"/>
          <p:cNvSpPr/>
          <p:nvPr/>
        </p:nvSpPr>
        <p:spPr>
          <a:xfrm>
            <a:off x="5733288" y="4069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fr-FR" sz="1000" noProof="0" dirty="0"/>
          </a:p>
        </p:txBody>
      </p:sp>
      <p:sp>
        <p:nvSpPr>
          <p:cNvPr id="31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9"/>
          <p:cNvSpPr/>
          <p:nvPr/>
        </p:nvSpPr>
        <p:spPr>
          <a:xfrm>
            <a:off x="0" y="4937760"/>
            <a:ext cx="9144000" cy="4572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30"/>
          <p:cNvSpPr/>
          <p:nvPr/>
        </p:nvSpPr>
        <p:spPr>
          <a:xfrm>
            <a:off x="274320" y="495604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PROJET 16 — MOTD </a:t>
            </a:r>
            <a:r>
              <a:rPr lang="fr-FR" sz="800" noProof="0" dirty="0" err="1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fr-FR" sz="800" noProof="0" dirty="0"/>
          </a:p>
        </p:txBody>
      </p:sp>
      <p:sp>
        <p:nvSpPr>
          <p:cNvPr id="34" name="Text 31"/>
          <p:cNvSpPr/>
          <p:nvPr/>
        </p:nvSpPr>
        <p:spPr>
          <a:xfrm>
            <a:off x="841248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800" noProof="0" dirty="0">
                <a:solidFill>
                  <a:srgbClr val="7A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fr-FR" sz="800" noProof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1874</Words>
  <Application>Microsoft Office PowerPoint</Application>
  <PresentationFormat>On-screen Show (16:9)</PresentationFormat>
  <Paragraphs>300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Générateur Dynamique MOTD — Projet 16</dc:title>
  <dc:subject>PptxGenJS Presentation</dc:subject>
  <dc:creator>SORE Naimatou &amp; ZAHIDI Yassir</dc:creator>
  <cp:lastModifiedBy>Yassir Zahidi</cp:lastModifiedBy>
  <cp:revision>10</cp:revision>
  <dcterms:created xsi:type="dcterms:W3CDTF">2026-05-15T09:00:06Z</dcterms:created>
  <dcterms:modified xsi:type="dcterms:W3CDTF">2026-05-21T14:41:04Z</dcterms:modified>
</cp:coreProperties>
</file>